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6" roundtripDataSignature="AMtx7mhbnnnCYAFJ9UAjZfFCsqudE3r8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a76e504a22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a76e504a22_0_1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2a76e504a22_0_1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640eb298e4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640eb298e4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2640eb298e4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63dfcc855e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63dfcc855e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263dfcc855e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a76e504a22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a76e504a22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2a76e504a22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640eb298e4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640eb298e4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2640eb298e4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640eb298e4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640eb298e4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2640eb298e4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a8092ebe27_26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a8092ebe27_26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2a8092ebe27_26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a76e504a22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a76e504a22_0_1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g2a76e504a22_0_1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63dfcc855e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63dfcc855e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263dfcc855e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a76e504a22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a76e504a22_0_2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2a76e504a22_0_2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a76e504a22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a76e504a22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2a76e504a22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a76e504a22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a76e504a22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g2a76e504a22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a76e504a22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a76e504a22_0_2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2a76e504a22_0_2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a76e504a22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a76e504a22_0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2a76e504a22_0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a76e504a22_0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a76e504a22_0_1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g2a76e504a22_0_19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a76e504a22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a76e504a22_0_1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g2a76e504a22_0_1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a76e504a22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a76e504a22_0_1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g2a76e504a22_0_1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a76e504a22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a76e504a22_0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2a76e504a22_0_1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a8092ebe27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a8092ebe27_3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g2a8092ebe27_3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a76e504a22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a76e504a22_0_1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2a76e504a22_0_1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a76e504a22_0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a76e504a22_0_2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g2a76e504a22_0_2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a8092ebe27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a8092ebe27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g2a8092ebe27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a76e504a22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a76e504a22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g2a76e504a22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a8092ebe27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a8092ebe27_2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g2a8092ebe27_2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a76e504a22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a76e504a22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g2a76e504a22_0_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jp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jp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jp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jp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jp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0"/>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7224">
          <p15:clr>
            <a:srgbClr val="FBAE40"/>
          </p15:clr>
        </p15:guide>
        <p15:guide id="2" orient="horz" pos="3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1" showMasterSp="0">
  <p:cSld name="Title Slide Option 1">
    <p:spTree>
      <p:nvGrpSpPr>
        <p:cNvPr id="21" name="Shape 21"/>
        <p:cNvGrpSpPr/>
        <p:nvPr/>
      </p:nvGrpSpPr>
      <p:grpSpPr>
        <a:xfrm>
          <a:off x="0" y="0"/>
          <a:ext cx="0" cy="0"/>
          <a:chOff x="0" y="0"/>
          <a:chExt cx="0" cy="0"/>
        </a:xfrm>
      </p:grpSpPr>
      <p:pic>
        <p:nvPicPr>
          <p:cNvPr id="22" name="Google Shape;22;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 name="Google Shape;23;p31"/>
          <p:cNvSpPr txBox="1"/>
          <p:nvPr>
            <p:ph idx="1" type="subTitle"/>
          </p:nvPr>
        </p:nvSpPr>
        <p:spPr>
          <a:xfrm>
            <a:off x="422226" y="1371600"/>
            <a:ext cx="6394210"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1"/>
          <p:cNvSpPr txBox="1"/>
          <p:nvPr>
            <p:ph type="title"/>
          </p:nvPr>
        </p:nvSpPr>
        <p:spPr>
          <a:xfrm>
            <a:off x="422226" y="305135"/>
            <a:ext cx="7345820"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2800"/>
              <a:buFont typeface="Arial"/>
              <a:buNone/>
              <a:defRPr b="1"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 name="Google Shape;25;p31"/>
          <p:cNvPicPr preferRelativeResize="0"/>
          <p:nvPr/>
        </p:nvPicPr>
        <p:blipFill rotWithShape="1">
          <a:blip r:embed="rId3">
            <a:alphaModFix/>
          </a:blip>
          <a:srcRect b="0" l="0" r="0" t="0"/>
          <a:stretch/>
        </p:blipFill>
        <p:spPr>
          <a:xfrm>
            <a:off x="557693" y="5543566"/>
            <a:ext cx="2124460" cy="762002"/>
          </a:xfrm>
          <a:prstGeom prst="rect">
            <a:avLst/>
          </a:prstGeom>
          <a:noFill/>
          <a:ln>
            <a:noFill/>
          </a:ln>
        </p:spPr>
      </p:pic>
      <p:sp>
        <p:nvSpPr>
          <p:cNvPr id="26" name="Google Shape;26;p31"/>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7080">
          <p15:clr>
            <a:srgbClr val="FBAE40"/>
          </p15:clr>
        </p15:guide>
        <p15:guide id="2" orient="horz" pos="151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2" showMasterSp="0">
  <p:cSld name="Title Slide Option 2">
    <p:spTree>
      <p:nvGrpSpPr>
        <p:cNvPr id="29" name="Shape 29"/>
        <p:cNvGrpSpPr/>
        <p:nvPr/>
      </p:nvGrpSpPr>
      <p:grpSpPr>
        <a:xfrm>
          <a:off x="0" y="0"/>
          <a:ext cx="0" cy="0"/>
          <a:chOff x="0" y="0"/>
          <a:chExt cx="0" cy="0"/>
        </a:xfrm>
      </p:grpSpPr>
      <p:pic>
        <p:nvPicPr>
          <p:cNvPr id="30" name="Google Shape;30;p32"/>
          <p:cNvPicPr preferRelativeResize="0"/>
          <p:nvPr/>
        </p:nvPicPr>
        <p:blipFill rotWithShape="1">
          <a:blip r:embed="rId2">
            <a:alphaModFix/>
          </a:blip>
          <a:srcRect b="0" l="0" r="0" t="0"/>
          <a:stretch/>
        </p:blipFill>
        <p:spPr>
          <a:xfrm>
            <a:off x="0" y="0"/>
            <a:ext cx="12191996" cy="6857997"/>
          </a:xfrm>
          <a:prstGeom prst="rect">
            <a:avLst/>
          </a:prstGeom>
          <a:noFill/>
          <a:ln>
            <a:noFill/>
          </a:ln>
        </p:spPr>
      </p:pic>
      <p:sp>
        <p:nvSpPr>
          <p:cNvPr id="31" name="Google Shape;31;p32"/>
          <p:cNvSpPr txBox="1"/>
          <p:nvPr>
            <p:ph idx="1" type="subTitle"/>
          </p:nvPr>
        </p:nvSpPr>
        <p:spPr>
          <a:xfrm>
            <a:off x="422226" y="1371600"/>
            <a:ext cx="9144000"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32"/>
          <p:cNvSpPr txBox="1"/>
          <p:nvPr>
            <p:ph type="title"/>
          </p:nvPr>
        </p:nvSpPr>
        <p:spPr>
          <a:xfrm>
            <a:off x="422226" y="305135"/>
            <a:ext cx="9144000"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2"/>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2"/>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36" name="Google Shape;36;p32"/>
          <p:cNvPicPr preferRelativeResize="0"/>
          <p:nvPr/>
        </p:nvPicPr>
        <p:blipFill rotWithShape="1">
          <a:blip r:embed="rId3">
            <a:alphaModFix/>
          </a:blip>
          <a:srcRect b="0" l="0" r="0" t="0"/>
          <a:stretch/>
        </p:blipFill>
        <p:spPr>
          <a:xfrm>
            <a:off x="572170" y="5543566"/>
            <a:ext cx="2095505"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3" showMasterSp="0">
  <p:cSld name="Title Slide Option 3">
    <p:spTree>
      <p:nvGrpSpPr>
        <p:cNvPr id="37" name="Shape 37"/>
        <p:cNvGrpSpPr/>
        <p:nvPr/>
      </p:nvGrpSpPr>
      <p:grpSpPr>
        <a:xfrm>
          <a:off x="0" y="0"/>
          <a:ext cx="0" cy="0"/>
          <a:chOff x="0" y="0"/>
          <a:chExt cx="0" cy="0"/>
        </a:xfrm>
      </p:grpSpPr>
      <p:pic>
        <p:nvPicPr>
          <p:cNvPr id="38" name="Google Shape;38;p3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9" name="Google Shape;39;p33"/>
          <p:cNvSpPr txBox="1"/>
          <p:nvPr>
            <p:ph idx="1" type="subTitle"/>
          </p:nvPr>
        </p:nvSpPr>
        <p:spPr>
          <a:xfrm>
            <a:off x="422226" y="1371600"/>
            <a:ext cx="8331481"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0" name="Google Shape;40;p33"/>
          <p:cNvSpPr txBox="1"/>
          <p:nvPr>
            <p:ph type="title"/>
          </p:nvPr>
        </p:nvSpPr>
        <p:spPr>
          <a:xfrm>
            <a:off x="422225" y="305135"/>
            <a:ext cx="8309179"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3"/>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3"/>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3"/>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44" name="Google Shape;44;p33"/>
          <p:cNvPicPr preferRelativeResize="0"/>
          <p:nvPr/>
        </p:nvPicPr>
        <p:blipFill rotWithShape="1">
          <a:blip r:embed="rId3">
            <a:alphaModFix/>
          </a:blip>
          <a:srcRect b="0" l="0" r="0" t="0"/>
          <a:stretch/>
        </p:blipFill>
        <p:spPr>
          <a:xfrm>
            <a:off x="557693" y="5543566"/>
            <a:ext cx="2124460"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4" showMasterSp="0">
  <p:cSld name="Title Slide Option 4">
    <p:spTree>
      <p:nvGrpSpPr>
        <p:cNvPr id="45" name="Shape 45"/>
        <p:cNvGrpSpPr/>
        <p:nvPr/>
      </p:nvGrpSpPr>
      <p:grpSpPr>
        <a:xfrm>
          <a:off x="0" y="0"/>
          <a:ext cx="0" cy="0"/>
          <a:chOff x="0" y="0"/>
          <a:chExt cx="0" cy="0"/>
        </a:xfrm>
      </p:grpSpPr>
      <p:pic>
        <p:nvPicPr>
          <p:cNvPr id="46" name="Google Shape;46;p3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7" name="Google Shape;47;p34"/>
          <p:cNvSpPr txBox="1"/>
          <p:nvPr>
            <p:ph idx="1" type="subTitle"/>
          </p:nvPr>
        </p:nvSpPr>
        <p:spPr>
          <a:xfrm>
            <a:off x="422226" y="1371600"/>
            <a:ext cx="9144000"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8" name="Google Shape;48;p34"/>
          <p:cNvSpPr txBox="1"/>
          <p:nvPr>
            <p:ph type="title"/>
          </p:nvPr>
        </p:nvSpPr>
        <p:spPr>
          <a:xfrm>
            <a:off x="422227" y="305135"/>
            <a:ext cx="9143999"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4"/>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4"/>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4"/>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52" name="Google Shape;52;p34"/>
          <p:cNvPicPr preferRelativeResize="0"/>
          <p:nvPr/>
        </p:nvPicPr>
        <p:blipFill rotWithShape="1">
          <a:blip r:embed="rId3">
            <a:alphaModFix/>
          </a:blip>
          <a:srcRect b="0" l="0" r="0" t="0"/>
          <a:stretch/>
        </p:blipFill>
        <p:spPr>
          <a:xfrm>
            <a:off x="557693" y="5543566"/>
            <a:ext cx="2124460"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5" showMasterSp="0">
  <p:cSld name="Title Slide Option 5">
    <p:spTree>
      <p:nvGrpSpPr>
        <p:cNvPr id="53" name="Shape 53"/>
        <p:cNvGrpSpPr/>
        <p:nvPr/>
      </p:nvGrpSpPr>
      <p:grpSpPr>
        <a:xfrm>
          <a:off x="0" y="0"/>
          <a:ext cx="0" cy="0"/>
          <a:chOff x="0" y="0"/>
          <a:chExt cx="0" cy="0"/>
        </a:xfrm>
      </p:grpSpPr>
      <p:pic>
        <p:nvPicPr>
          <p:cNvPr id="54" name="Google Shape;54;p3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5" name="Google Shape;55;p35"/>
          <p:cNvSpPr txBox="1"/>
          <p:nvPr>
            <p:ph idx="1" type="subTitle"/>
          </p:nvPr>
        </p:nvSpPr>
        <p:spPr>
          <a:xfrm>
            <a:off x="422226" y="1371600"/>
            <a:ext cx="9144000"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6" name="Google Shape;56;p35"/>
          <p:cNvSpPr txBox="1"/>
          <p:nvPr>
            <p:ph type="title"/>
          </p:nvPr>
        </p:nvSpPr>
        <p:spPr>
          <a:xfrm>
            <a:off x="422227" y="305135"/>
            <a:ext cx="9143999"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5"/>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5"/>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60" name="Google Shape;60;p35"/>
          <p:cNvPicPr preferRelativeResize="0"/>
          <p:nvPr/>
        </p:nvPicPr>
        <p:blipFill rotWithShape="1">
          <a:blip r:embed="rId3">
            <a:alphaModFix/>
          </a:blip>
          <a:srcRect b="0" l="0" r="0" t="0"/>
          <a:stretch/>
        </p:blipFill>
        <p:spPr>
          <a:xfrm>
            <a:off x="557693" y="5543566"/>
            <a:ext cx="2124460"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6" showMasterSp="0">
  <p:cSld name="Title Slide Option 6">
    <p:spTree>
      <p:nvGrpSpPr>
        <p:cNvPr id="61" name="Shape 61"/>
        <p:cNvGrpSpPr/>
        <p:nvPr/>
      </p:nvGrpSpPr>
      <p:grpSpPr>
        <a:xfrm>
          <a:off x="0" y="0"/>
          <a:ext cx="0" cy="0"/>
          <a:chOff x="0" y="0"/>
          <a:chExt cx="0" cy="0"/>
        </a:xfrm>
      </p:grpSpPr>
      <p:pic>
        <p:nvPicPr>
          <p:cNvPr id="62" name="Google Shape;62;p36"/>
          <p:cNvPicPr preferRelativeResize="0"/>
          <p:nvPr/>
        </p:nvPicPr>
        <p:blipFill rotWithShape="1">
          <a:blip r:embed="rId2">
            <a:alphaModFix/>
          </a:blip>
          <a:srcRect b="0" l="0" r="0" t="0"/>
          <a:stretch/>
        </p:blipFill>
        <p:spPr>
          <a:xfrm>
            <a:off x="1524" y="1713"/>
            <a:ext cx="12188951" cy="6856285"/>
          </a:xfrm>
          <a:prstGeom prst="rect">
            <a:avLst/>
          </a:prstGeom>
          <a:noFill/>
          <a:ln>
            <a:noFill/>
          </a:ln>
        </p:spPr>
      </p:pic>
      <p:sp>
        <p:nvSpPr>
          <p:cNvPr id="63" name="Google Shape;63;p36"/>
          <p:cNvSpPr txBox="1"/>
          <p:nvPr>
            <p:ph idx="1" type="subTitle"/>
          </p:nvPr>
        </p:nvSpPr>
        <p:spPr>
          <a:xfrm>
            <a:off x="422226" y="1371600"/>
            <a:ext cx="8019247"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4" name="Google Shape;64;p36"/>
          <p:cNvSpPr txBox="1"/>
          <p:nvPr>
            <p:ph type="title"/>
          </p:nvPr>
        </p:nvSpPr>
        <p:spPr>
          <a:xfrm>
            <a:off x="422226" y="305135"/>
            <a:ext cx="8008096"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6"/>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68" name="Google Shape;68;p36"/>
          <p:cNvPicPr preferRelativeResize="0"/>
          <p:nvPr/>
        </p:nvPicPr>
        <p:blipFill rotWithShape="1">
          <a:blip r:embed="rId3">
            <a:alphaModFix/>
          </a:blip>
          <a:srcRect b="0" l="0" r="0" t="0"/>
          <a:stretch/>
        </p:blipFill>
        <p:spPr>
          <a:xfrm>
            <a:off x="572170" y="5543566"/>
            <a:ext cx="2095505"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Option 7" showMasterSp="0">
  <p:cSld name="Title Slide Option 7">
    <p:spTree>
      <p:nvGrpSpPr>
        <p:cNvPr id="69" name="Shape 69"/>
        <p:cNvGrpSpPr/>
        <p:nvPr/>
      </p:nvGrpSpPr>
      <p:grpSpPr>
        <a:xfrm>
          <a:off x="0" y="0"/>
          <a:ext cx="0" cy="0"/>
          <a:chOff x="0" y="0"/>
          <a:chExt cx="0" cy="0"/>
        </a:xfrm>
      </p:grpSpPr>
      <p:pic>
        <p:nvPicPr>
          <p:cNvPr id="70" name="Google Shape;70;p3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1" name="Google Shape;71;p37"/>
          <p:cNvSpPr txBox="1"/>
          <p:nvPr>
            <p:ph idx="1" type="subTitle"/>
          </p:nvPr>
        </p:nvSpPr>
        <p:spPr>
          <a:xfrm>
            <a:off x="422226" y="1371600"/>
            <a:ext cx="9144000"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2" name="Google Shape;72;p37"/>
          <p:cNvSpPr txBox="1"/>
          <p:nvPr>
            <p:ph type="title"/>
          </p:nvPr>
        </p:nvSpPr>
        <p:spPr>
          <a:xfrm>
            <a:off x="422226" y="305135"/>
            <a:ext cx="9144000"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7"/>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7"/>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7"/>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76" name="Google Shape;76;p37"/>
          <p:cNvPicPr preferRelativeResize="0"/>
          <p:nvPr/>
        </p:nvPicPr>
        <p:blipFill rotWithShape="1">
          <a:blip r:embed="rId3">
            <a:alphaModFix/>
          </a:blip>
          <a:srcRect b="0" l="0" r="0" t="0"/>
          <a:stretch/>
        </p:blipFill>
        <p:spPr>
          <a:xfrm>
            <a:off x="557693" y="2861326"/>
            <a:ext cx="2124460"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77" name="Shape 77"/>
        <p:cNvGrpSpPr/>
        <p:nvPr/>
      </p:nvGrpSpPr>
      <p:grpSpPr>
        <a:xfrm>
          <a:off x="0" y="0"/>
          <a:ext cx="0" cy="0"/>
          <a:chOff x="0" y="0"/>
          <a:chExt cx="0" cy="0"/>
        </a:xfrm>
      </p:grpSpPr>
      <p:sp>
        <p:nvSpPr>
          <p:cNvPr id="78" name="Google Shape;78;p38"/>
          <p:cNvSpPr txBox="1"/>
          <p:nvPr>
            <p:ph idx="1" type="subTitle"/>
          </p:nvPr>
        </p:nvSpPr>
        <p:spPr>
          <a:xfrm>
            <a:off x="422226" y="1371600"/>
            <a:ext cx="9144000"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79" name="Google Shape;79;p38"/>
          <p:cNvPicPr preferRelativeResize="0"/>
          <p:nvPr/>
        </p:nvPicPr>
        <p:blipFill rotWithShape="1">
          <a:blip r:embed="rId2">
            <a:alphaModFix/>
          </a:blip>
          <a:srcRect b="0" l="0" r="0" t="0"/>
          <a:stretch/>
        </p:blipFill>
        <p:spPr>
          <a:xfrm>
            <a:off x="557693" y="5543566"/>
            <a:ext cx="2124460" cy="762002"/>
          </a:xfrm>
          <a:prstGeom prst="rect">
            <a:avLst/>
          </a:prstGeom>
          <a:noFill/>
          <a:ln>
            <a:noFill/>
          </a:ln>
        </p:spPr>
      </p:pic>
      <p:sp>
        <p:nvSpPr>
          <p:cNvPr id="80" name="Google Shape;80;p38"/>
          <p:cNvSpPr txBox="1"/>
          <p:nvPr>
            <p:ph type="title"/>
          </p:nvPr>
        </p:nvSpPr>
        <p:spPr>
          <a:xfrm>
            <a:off x="422226" y="305135"/>
            <a:ext cx="9144000"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38"/>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8"/>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8"/>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Option 1" showMasterSp="0">
  <p:cSld name="Section Header Option 1">
    <p:spTree>
      <p:nvGrpSpPr>
        <p:cNvPr id="84" name="Shape 84"/>
        <p:cNvGrpSpPr/>
        <p:nvPr/>
      </p:nvGrpSpPr>
      <p:grpSpPr>
        <a:xfrm>
          <a:off x="0" y="0"/>
          <a:ext cx="0" cy="0"/>
          <a:chOff x="0" y="0"/>
          <a:chExt cx="0" cy="0"/>
        </a:xfrm>
      </p:grpSpPr>
      <p:pic>
        <p:nvPicPr>
          <p:cNvPr id="85" name="Google Shape;85;p3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6" name="Google Shape;86;p39"/>
          <p:cNvSpPr txBox="1"/>
          <p:nvPr>
            <p:ph idx="1" type="body"/>
          </p:nvPr>
        </p:nvSpPr>
        <p:spPr>
          <a:xfrm>
            <a:off x="594106" y="2532602"/>
            <a:ext cx="4801983"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2400"/>
              <a:buNone/>
              <a:defRPr sz="2400">
                <a:solidFill>
                  <a:schemeClr val="dk2"/>
                </a:solidFill>
              </a:defRPr>
            </a:lvl1pPr>
            <a:lvl2pPr indent="-228600" lvl="1" marL="914400" algn="l">
              <a:lnSpc>
                <a:spcPct val="90000"/>
              </a:lnSpc>
              <a:spcBef>
                <a:spcPts val="500"/>
              </a:spcBef>
              <a:spcAft>
                <a:spcPts val="0"/>
              </a:spcAft>
              <a:buClr>
                <a:srgbClr val="888888"/>
              </a:buClr>
              <a:buSzPts val="12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id="87" name="Google Shape;87;p39"/>
          <p:cNvPicPr preferRelativeResize="0"/>
          <p:nvPr/>
        </p:nvPicPr>
        <p:blipFill rotWithShape="1">
          <a:blip r:embed="rId3">
            <a:alphaModFix/>
          </a:blip>
          <a:srcRect b="0" l="0" r="0" t="0"/>
          <a:stretch/>
        </p:blipFill>
        <p:spPr>
          <a:xfrm>
            <a:off x="557693" y="5543566"/>
            <a:ext cx="2124460" cy="762002"/>
          </a:xfrm>
          <a:prstGeom prst="rect">
            <a:avLst/>
          </a:prstGeom>
          <a:noFill/>
          <a:ln>
            <a:noFill/>
          </a:ln>
        </p:spPr>
      </p:pic>
      <p:sp>
        <p:nvSpPr>
          <p:cNvPr id="88" name="Google Shape;88;p39"/>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mt="70000"/>
          </a:blip>
          <a:srcRect b="0" l="0" r="0" t="0"/>
          <a:stretch/>
        </p:blipFill>
        <p:spPr>
          <a:xfrm>
            <a:off x="0" y="0"/>
            <a:ext cx="12192000" cy="6858000"/>
          </a:xfrm>
          <a:prstGeom prst="rect">
            <a:avLst/>
          </a:prstGeom>
          <a:noFill/>
          <a:ln>
            <a:noFill/>
          </a:ln>
        </p:spPr>
      </p:pic>
      <p:sp>
        <p:nvSpPr>
          <p:cNvPr id="91" name="Google Shape;91;p40"/>
          <p:cNvSpPr txBox="1"/>
          <p:nvPr>
            <p:ph type="title"/>
          </p:nvPr>
        </p:nvSpPr>
        <p:spPr>
          <a:xfrm>
            <a:off x="594106" y="1024128"/>
            <a:ext cx="7104916" cy="112433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40"/>
          <p:cNvSpPr txBox="1"/>
          <p:nvPr>
            <p:ph idx="1" type="body"/>
          </p:nvPr>
        </p:nvSpPr>
        <p:spPr>
          <a:xfrm>
            <a:off x="594106" y="2532602"/>
            <a:ext cx="7104916" cy="35252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2400"/>
              <a:buNone/>
              <a:defRPr sz="2400">
                <a:solidFill>
                  <a:schemeClr val="dk2"/>
                </a:solidFill>
              </a:defRPr>
            </a:lvl1pPr>
            <a:lvl2pPr indent="-228600" lvl="1" marL="914400" algn="l">
              <a:lnSpc>
                <a:spcPct val="90000"/>
              </a:lnSpc>
              <a:spcBef>
                <a:spcPts val="500"/>
              </a:spcBef>
              <a:spcAft>
                <a:spcPts val="0"/>
              </a:spcAft>
              <a:buClr>
                <a:srgbClr val="888888"/>
              </a:buClr>
              <a:buSzPts val="12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id="93" name="Google Shape;93;p40"/>
          <p:cNvPicPr preferRelativeResize="0"/>
          <p:nvPr/>
        </p:nvPicPr>
        <p:blipFill rotWithShape="1">
          <a:blip r:embed="rId3">
            <a:alphaModFix/>
          </a:blip>
          <a:srcRect b="0" l="0" r="0" t="0"/>
          <a:stretch/>
        </p:blipFill>
        <p:spPr>
          <a:xfrm>
            <a:off x="557693" y="5543566"/>
            <a:ext cx="2124460" cy="762002"/>
          </a:xfrm>
          <a:prstGeom prst="rect">
            <a:avLst/>
          </a:prstGeom>
          <a:noFill/>
          <a:ln>
            <a:noFill/>
          </a:ln>
        </p:spPr>
      </p:pic>
    </p:spTree>
  </p:cSld>
  <p:clrMapOvr>
    <a:masterClrMapping/>
  </p:clrMapOvr>
  <p:extLst>
    <p:ext uri="{DCECCB84-F9BA-43D5-87BE-67443E8EF086}">
      <p15:sldGuideLst>
        <p15:guide id="1" orient="horz" pos="3816">
          <p15:clr>
            <a:srgbClr val="FBAE40"/>
          </p15:clr>
        </p15:guide>
        <p15:guide id="2" pos="487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Option 3" showMasterSp="0">
  <p:cSld name="Section Header Option 3">
    <p:spTree>
      <p:nvGrpSpPr>
        <p:cNvPr id="94" name="Shape 94"/>
        <p:cNvGrpSpPr/>
        <p:nvPr/>
      </p:nvGrpSpPr>
      <p:grpSpPr>
        <a:xfrm>
          <a:off x="0" y="0"/>
          <a:ext cx="0" cy="0"/>
          <a:chOff x="0" y="0"/>
          <a:chExt cx="0" cy="0"/>
        </a:xfrm>
      </p:grpSpPr>
      <p:sp>
        <p:nvSpPr>
          <p:cNvPr id="95" name="Google Shape;95;p41"/>
          <p:cNvSpPr txBox="1"/>
          <p:nvPr>
            <p:ph type="title"/>
          </p:nvPr>
        </p:nvSpPr>
        <p:spPr>
          <a:xfrm>
            <a:off x="422225" y="1024128"/>
            <a:ext cx="7104916" cy="112433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41"/>
          <p:cNvSpPr txBox="1"/>
          <p:nvPr>
            <p:ph idx="1" type="body"/>
          </p:nvPr>
        </p:nvSpPr>
        <p:spPr>
          <a:xfrm>
            <a:off x="422225" y="2532601"/>
            <a:ext cx="7104916" cy="3572363"/>
          </a:xfrm>
          <a:prstGeom prst="rect">
            <a:avLst/>
          </a:prstGeom>
          <a:noFill/>
          <a:ln>
            <a:noFill/>
          </a:ln>
        </p:spPr>
        <p:txBody>
          <a:bodyPr anchorCtr="0" anchor="t" bIns="45700" lIns="91425" spcFirstLastPara="1" rIns="91425" wrap="square" tIns="45700">
            <a:normAutofit/>
          </a:bodyPr>
          <a:lstStyle>
            <a:lvl1pPr indent="-228600" lvl="0" marL="457200" algn="l">
              <a:lnSpc>
                <a:spcPct val="70000"/>
              </a:lnSpc>
              <a:spcBef>
                <a:spcPts val="1800"/>
              </a:spcBef>
              <a:spcAft>
                <a:spcPts val="0"/>
              </a:spcAft>
              <a:buClr>
                <a:schemeClr val="dk2"/>
              </a:buClr>
              <a:buSzPts val="4400"/>
              <a:buNone/>
              <a:defRPr b="1" sz="4400" cap="none">
                <a:solidFill>
                  <a:schemeClr val="dk2"/>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12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97" name="Google Shape;97;p41"/>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1"/>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99" name="Google Shape;99;p41"/>
          <p:cNvPicPr preferRelativeResize="0"/>
          <p:nvPr/>
        </p:nvPicPr>
        <p:blipFill rotWithShape="1">
          <a:blip r:embed="rId2">
            <a:alphaModFix/>
          </a:blip>
          <a:srcRect b="0" l="0" r="0" t="0"/>
          <a:stretch/>
        </p:blipFill>
        <p:spPr>
          <a:xfrm>
            <a:off x="422225" y="6106986"/>
            <a:ext cx="1478620" cy="530352"/>
          </a:xfrm>
          <a:prstGeom prst="rect">
            <a:avLst/>
          </a:prstGeom>
          <a:noFill/>
          <a:ln>
            <a:noFill/>
          </a:ln>
        </p:spPr>
      </p:pic>
    </p:spTree>
  </p:cSld>
  <p:clrMapOvr>
    <a:masterClrMapping/>
  </p:clrMapOvr>
  <p:extLst>
    <p:ext uri="{DCECCB84-F9BA-43D5-87BE-67443E8EF086}">
      <p15:sldGuideLst>
        <p15:guide id="1" pos="4872">
          <p15:clr>
            <a:srgbClr val="FBAE40"/>
          </p15:clr>
        </p15:guide>
        <p15:guide id="2" orient="horz" pos="38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00" name="Shape 100"/>
        <p:cNvGrpSpPr/>
        <p:nvPr/>
      </p:nvGrpSpPr>
      <p:grpSpPr>
        <a:xfrm>
          <a:off x="0" y="0"/>
          <a:ext cx="0" cy="0"/>
          <a:chOff x="0" y="0"/>
          <a:chExt cx="0" cy="0"/>
        </a:xfrm>
      </p:grpSpPr>
      <p:sp>
        <p:nvSpPr>
          <p:cNvPr id="101" name="Google Shape;101;p42"/>
          <p:cNvSpPr txBox="1"/>
          <p:nvPr>
            <p:ph idx="1" type="body"/>
          </p:nvPr>
        </p:nvSpPr>
        <p:spPr>
          <a:xfrm>
            <a:off x="422224" y="1452286"/>
            <a:ext cx="3020223" cy="45537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Font typeface="Courier New"/>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42"/>
          <p:cNvSpPr txBox="1"/>
          <p:nvPr>
            <p:ph idx="2" type="body"/>
          </p:nvPr>
        </p:nvSpPr>
        <p:spPr>
          <a:xfrm>
            <a:off x="3667236" y="1452286"/>
            <a:ext cx="3020223" cy="45537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Font typeface="Courier New"/>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42"/>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2"/>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2"/>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6" name="Google Shape;106;p42"/>
          <p:cNvSpPr txBox="1"/>
          <p:nvPr>
            <p:ph idx="3" type="body"/>
          </p:nvPr>
        </p:nvSpPr>
        <p:spPr>
          <a:xfrm>
            <a:off x="6912248" y="1452286"/>
            <a:ext cx="3020223" cy="45537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Font typeface="Courier New"/>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42"/>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7224">
          <p15:clr>
            <a:srgbClr val="FBAE40"/>
          </p15:clr>
        </p15:guide>
        <p15:guide id="2" orient="horz" pos="37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8" name="Shape 108"/>
        <p:cNvGrpSpPr/>
        <p:nvPr/>
      </p:nvGrpSpPr>
      <p:grpSpPr>
        <a:xfrm>
          <a:off x="0" y="0"/>
          <a:ext cx="0" cy="0"/>
          <a:chOff x="0" y="0"/>
          <a:chExt cx="0" cy="0"/>
        </a:xfrm>
      </p:grpSpPr>
      <p:sp>
        <p:nvSpPr>
          <p:cNvPr id="109" name="Google Shape;109;p43"/>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43"/>
          <p:cNvSpPr txBox="1"/>
          <p:nvPr>
            <p:ph idx="1" type="body"/>
          </p:nvPr>
        </p:nvSpPr>
        <p:spPr>
          <a:xfrm>
            <a:off x="422226" y="1452286"/>
            <a:ext cx="9510245" cy="453141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43"/>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43"/>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3"/>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7224">
          <p15:clr>
            <a:srgbClr val="FBAE40"/>
          </p15:clr>
        </p15:guide>
        <p15:guide id="2" orient="horz" pos="37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head and Content">
  <p:cSld name="Title, Subhead and Content">
    <p:spTree>
      <p:nvGrpSpPr>
        <p:cNvPr id="114" name="Shape 114"/>
        <p:cNvGrpSpPr/>
        <p:nvPr/>
      </p:nvGrpSpPr>
      <p:grpSpPr>
        <a:xfrm>
          <a:off x="0" y="0"/>
          <a:ext cx="0" cy="0"/>
          <a:chOff x="0" y="0"/>
          <a:chExt cx="0" cy="0"/>
        </a:xfrm>
      </p:grpSpPr>
      <p:sp>
        <p:nvSpPr>
          <p:cNvPr id="115" name="Google Shape;115;p44"/>
          <p:cNvSpPr txBox="1"/>
          <p:nvPr>
            <p:ph idx="1" type="body"/>
          </p:nvPr>
        </p:nvSpPr>
        <p:spPr>
          <a:xfrm>
            <a:off x="422226" y="1380941"/>
            <a:ext cx="9510245" cy="4178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800"/>
              </a:spcBef>
              <a:spcAft>
                <a:spcPts val="0"/>
              </a:spcAft>
              <a:buClr>
                <a:schemeClr val="accent1"/>
              </a:buClr>
              <a:buSzPts val="2000"/>
              <a:buNone/>
              <a:defRPr b="1" sz="2000" cap="none">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2"/>
              </a:buClr>
              <a:buSzPts val="1200"/>
              <a:buNone/>
              <a:defRPr b="1" sz="2000"/>
            </a:lvl2pPr>
            <a:lvl3pPr indent="-228600" lvl="2" marL="1371600" algn="l">
              <a:lnSpc>
                <a:spcPct val="90000"/>
              </a:lnSpc>
              <a:spcBef>
                <a:spcPts val="500"/>
              </a:spcBef>
              <a:spcAft>
                <a:spcPts val="0"/>
              </a:spcAft>
              <a:buClr>
                <a:schemeClr val="dk2"/>
              </a:buClr>
              <a:buSzPts val="1800"/>
              <a:buNone/>
              <a:defRPr b="1" sz="1800"/>
            </a:lvl3pPr>
            <a:lvl4pPr indent="-228600" lvl="3" marL="1828800" algn="l">
              <a:lnSpc>
                <a:spcPct val="90000"/>
              </a:lnSpc>
              <a:spcBef>
                <a:spcPts val="500"/>
              </a:spcBef>
              <a:spcAft>
                <a:spcPts val="0"/>
              </a:spcAft>
              <a:buClr>
                <a:schemeClr val="dk2"/>
              </a:buClr>
              <a:buSzPts val="1600"/>
              <a:buNone/>
              <a:defRPr b="1" sz="1600"/>
            </a:lvl4pPr>
            <a:lvl5pPr indent="-228600" lvl="4" marL="2286000" algn="l">
              <a:lnSpc>
                <a:spcPct val="9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6" name="Google Shape;116;p44"/>
          <p:cNvSpPr txBox="1"/>
          <p:nvPr>
            <p:ph idx="2" type="body"/>
          </p:nvPr>
        </p:nvSpPr>
        <p:spPr>
          <a:xfrm>
            <a:off x="422226" y="1994760"/>
            <a:ext cx="9510245" cy="401415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44"/>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4"/>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44"/>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0" name="Google Shape;120;p44"/>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7224">
          <p15:clr>
            <a:srgbClr val="FBAE40"/>
          </p15:clr>
        </p15:guide>
        <p15:guide id="2" orient="horz" pos="37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1" name="Shape 121"/>
        <p:cNvGrpSpPr/>
        <p:nvPr/>
      </p:nvGrpSpPr>
      <p:grpSpPr>
        <a:xfrm>
          <a:off x="0" y="0"/>
          <a:ext cx="0" cy="0"/>
          <a:chOff x="0" y="0"/>
          <a:chExt cx="0" cy="0"/>
        </a:xfrm>
      </p:grpSpPr>
      <p:sp>
        <p:nvSpPr>
          <p:cNvPr id="122" name="Google Shape;122;p45"/>
          <p:cNvSpPr txBox="1"/>
          <p:nvPr>
            <p:ph idx="1" type="body"/>
          </p:nvPr>
        </p:nvSpPr>
        <p:spPr>
          <a:xfrm>
            <a:off x="422225" y="1371600"/>
            <a:ext cx="4666045" cy="42062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800"/>
              </a:spcBef>
              <a:spcAft>
                <a:spcPts val="0"/>
              </a:spcAft>
              <a:buClr>
                <a:schemeClr val="accent1"/>
              </a:buClr>
              <a:buSzPts val="2000"/>
              <a:buNone/>
              <a:defRPr b="1" sz="2000" cap="none">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2"/>
              </a:buClr>
              <a:buSzPts val="1200"/>
              <a:buNone/>
              <a:defRPr b="1" sz="2000"/>
            </a:lvl2pPr>
            <a:lvl3pPr indent="-228600" lvl="2" marL="1371600" algn="l">
              <a:lnSpc>
                <a:spcPct val="90000"/>
              </a:lnSpc>
              <a:spcBef>
                <a:spcPts val="500"/>
              </a:spcBef>
              <a:spcAft>
                <a:spcPts val="0"/>
              </a:spcAft>
              <a:buClr>
                <a:schemeClr val="dk2"/>
              </a:buClr>
              <a:buSzPts val="1800"/>
              <a:buNone/>
              <a:defRPr b="1" sz="1800"/>
            </a:lvl3pPr>
            <a:lvl4pPr indent="-228600" lvl="3" marL="1828800" algn="l">
              <a:lnSpc>
                <a:spcPct val="90000"/>
              </a:lnSpc>
              <a:spcBef>
                <a:spcPts val="500"/>
              </a:spcBef>
              <a:spcAft>
                <a:spcPts val="0"/>
              </a:spcAft>
              <a:buClr>
                <a:schemeClr val="dk2"/>
              </a:buClr>
              <a:buSzPts val="1600"/>
              <a:buNone/>
              <a:defRPr b="1" sz="1600"/>
            </a:lvl4pPr>
            <a:lvl5pPr indent="-228600" lvl="4" marL="2286000" algn="l">
              <a:lnSpc>
                <a:spcPct val="9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3" name="Google Shape;123;p45"/>
          <p:cNvSpPr txBox="1"/>
          <p:nvPr>
            <p:ph idx="2" type="body"/>
          </p:nvPr>
        </p:nvSpPr>
        <p:spPr>
          <a:xfrm>
            <a:off x="422225" y="1978836"/>
            <a:ext cx="4666045" cy="403007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45"/>
          <p:cNvSpPr txBox="1"/>
          <p:nvPr>
            <p:ph idx="3" type="body"/>
          </p:nvPr>
        </p:nvSpPr>
        <p:spPr>
          <a:xfrm>
            <a:off x="5266425" y="1371600"/>
            <a:ext cx="4666045" cy="42062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800"/>
              </a:spcBef>
              <a:spcAft>
                <a:spcPts val="0"/>
              </a:spcAft>
              <a:buClr>
                <a:schemeClr val="accent1"/>
              </a:buClr>
              <a:buSzPts val="2000"/>
              <a:buNone/>
              <a:defRPr b="1" sz="2000" cap="none">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2"/>
              </a:buClr>
              <a:buSzPts val="1200"/>
              <a:buNone/>
              <a:defRPr b="1" sz="2000"/>
            </a:lvl2pPr>
            <a:lvl3pPr indent="-228600" lvl="2" marL="1371600" algn="l">
              <a:lnSpc>
                <a:spcPct val="90000"/>
              </a:lnSpc>
              <a:spcBef>
                <a:spcPts val="500"/>
              </a:spcBef>
              <a:spcAft>
                <a:spcPts val="0"/>
              </a:spcAft>
              <a:buClr>
                <a:schemeClr val="dk2"/>
              </a:buClr>
              <a:buSzPts val="1800"/>
              <a:buNone/>
              <a:defRPr b="1" sz="1800"/>
            </a:lvl3pPr>
            <a:lvl4pPr indent="-228600" lvl="3" marL="1828800" algn="l">
              <a:lnSpc>
                <a:spcPct val="90000"/>
              </a:lnSpc>
              <a:spcBef>
                <a:spcPts val="500"/>
              </a:spcBef>
              <a:spcAft>
                <a:spcPts val="0"/>
              </a:spcAft>
              <a:buClr>
                <a:schemeClr val="dk2"/>
              </a:buClr>
              <a:buSzPts val="1600"/>
              <a:buNone/>
              <a:defRPr b="1" sz="1600"/>
            </a:lvl4pPr>
            <a:lvl5pPr indent="-228600" lvl="4" marL="2286000" algn="l">
              <a:lnSpc>
                <a:spcPct val="9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5" name="Google Shape;125;p45"/>
          <p:cNvSpPr txBox="1"/>
          <p:nvPr>
            <p:ph idx="4" type="body"/>
          </p:nvPr>
        </p:nvSpPr>
        <p:spPr>
          <a:xfrm>
            <a:off x="5266425" y="1978836"/>
            <a:ext cx="4666045" cy="403007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45"/>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45"/>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45"/>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9" name="Google Shape;129;p45"/>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7224">
          <p15:clr>
            <a:srgbClr val="FBAE40"/>
          </p15:clr>
        </p15:guide>
        <p15:guide id="2" orient="horz" pos="37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Content">
  <p:cSld name="Two Images with Content">
    <p:spTree>
      <p:nvGrpSpPr>
        <p:cNvPr id="130" name="Shape 130"/>
        <p:cNvGrpSpPr/>
        <p:nvPr/>
      </p:nvGrpSpPr>
      <p:grpSpPr>
        <a:xfrm>
          <a:off x="0" y="0"/>
          <a:ext cx="0" cy="0"/>
          <a:chOff x="0" y="0"/>
          <a:chExt cx="0" cy="0"/>
        </a:xfrm>
      </p:grpSpPr>
      <p:sp>
        <p:nvSpPr>
          <p:cNvPr id="131" name="Google Shape;131;p46"/>
          <p:cNvSpPr txBox="1"/>
          <p:nvPr>
            <p:ph idx="1" type="body"/>
          </p:nvPr>
        </p:nvSpPr>
        <p:spPr>
          <a:xfrm>
            <a:off x="3581399" y="1470215"/>
            <a:ext cx="6351072" cy="20978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2000"/>
              <a:buNone/>
              <a:defRPr b="1">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46"/>
          <p:cNvSpPr txBox="1"/>
          <p:nvPr>
            <p:ph idx="2" type="body"/>
          </p:nvPr>
        </p:nvSpPr>
        <p:spPr>
          <a:xfrm>
            <a:off x="3581399" y="3787687"/>
            <a:ext cx="6351072" cy="209819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2000"/>
              <a:buNone/>
              <a:defRPr b="1">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46"/>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46"/>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6"/>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36" name="Google Shape;136;p46"/>
          <p:cNvSpPr/>
          <p:nvPr>
            <p:ph idx="3" type="pic"/>
          </p:nvPr>
        </p:nvSpPr>
        <p:spPr>
          <a:xfrm>
            <a:off x="422275" y="1469573"/>
            <a:ext cx="3002243" cy="2099109"/>
          </a:xfrm>
          <a:prstGeom prst="rect">
            <a:avLst/>
          </a:prstGeom>
          <a:noFill/>
          <a:ln>
            <a:noFill/>
          </a:ln>
        </p:spPr>
      </p:sp>
      <p:sp>
        <p:nvSpPr>
          <p:cNvPr id="137" name="Google Shape;137;p46"/>
          <p:cNvSpPr/>
          <p:nvPr>
            <p:ph idx="4" type="pic"/>
          </p:nvPr>
        </p:nvSpPr>
        <p:spPr>
          <a:xfrm>
            <a:off x="422275" y="3787687"/>
            <a:ext cx="3002243" cy="2099109"/>
          </a:xfrm>
          <a:prstGeom prst="rect">
            <a:avLst/>
          </a:prstGeom>
          <a:noFill/>
          <a:ln>
            <a:noFill/>
          </a:ln>
        </p:spPr>
      </p:sp>
      <p:sp>
        <p:nvSpPr>
          <p:cNvPr id="138" name="Google Shape;138;p46"/>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792">
          <p15:clr>
            <a:srgbClr val="FBAE40"/>
          </p15:clr>
        </p15:guide>
        <p15:guide id="2" pos="722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39" name="Shape 139"/>
        <p:cNvGrpSpPr/>
        <p:nvPr/>
      </p:nvGrpSpPr>
      <p:grpSpPr>
        <a:xfrm>
          <a:off x="0" y="0"/>
          <a:ext cx="0" cy="0"/>
          <a:chOff x="0" y="0"/>
          <a:chExt cx="0" cy="0"/>
        </a:xfrm>
      </p:grpSpPr>
      <p:sp>
        <p:nvSpPr>
          <p:cNvPr id="140" name="Google Shape;140;p47"/>
          <p:cNvSpPr txBox="1"/>
          <p:nvPr>
            <p:ph idx="1" type="body"/>
          </p:nvPr>
        </p:nvSpPr>
        <p:spPr>
          <a:xfrm>
            <a:off x="422224" y="1452286"/>
            <a:ext cx="4647692" cy="454729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47"/>
          <p:cNvSpPr txBox="1"/>
          <p:nvPr>
            <p:ph idx="2" type="body"/>
          </p:nvPr>
        </p:nvSpPr>
        <p:spPr>
          <a:xfrm>
            <a:off x="5284779" y="1452286"/>
            <a:ext cx="4647692" cy="454729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dk2"/>
              </a:buClr>
              <a:buSzPts val="1800"/>
              <a:buChar char="•"/>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47"/>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47"/>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47"/>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5" name="Google Shape;145;p47"/>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7224">
          <p15:clr>
            <a:srgbClr val="FBAE40"/>
          </p15:clr>
        </p15:guide>
        <p15:guide id="2" orient="horz" pos="37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46" name="Shape 146"/>
        <p:cNvGrpSpPr/>
        <p:nvPr/>
      </p:nvGrpSpPr>
      <p:grpSpPr>
        <a:xfrm>
          <a:off x="0" y="0"/>
          <a:ext cx="0" cy="0"/>
          <a:chOff x="0" y="0"/>
          <a:chExt cx="0" cy="0"/>
        </a:xfrm>
      </p:grpSpPr>
      <p:sp>
        <p:nvSpPr>
          <p:cNvPr id="147" name="Google Shape;147;p48"/>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48"/>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48"/>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50" name="Google Shape;150;p48"/>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48"/>
          <p:cNvSpPr txBox="1"/>
          <p:nvPr/>
        </p:nvSpPr>
        <p:spPr>
          <a:xfrm>
            <a:off x="8670470" y="6388099"/>
            <a:ext cx="327738" cy="283107"/>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cxnSp>
        <p:nvCxnSpPr>
          <p:cNvPr id="152" name="Google Shape;152;p48"/>
          <p:cNvCxnSpPr/>
          <p:nvPr/>
        </p:nvCxnSpPr>
        <p:spPr>
          <a:xfrm>
            <a:off x="304435" y="1767840"/>
            <a:ext cx="4309200" cy="0"/>
          </a:xfrm>
          <a:prstGeom prst="straightConnector1">
            <a:avLst/>
          </a:prstGeom>
          <a:noFill/>
          <a:ln cap="flat" cmpd="sng" w="9525">
            <a:solidFill>
              <a:schemeClr val="accent1"/>
            </a:solidFill>
            <a:prstDash val="solid"/>
            <a:miter lim="800000"/>
            <a:headEnd len="med" w="med" type="triangle"/>
            <a:tailEnd len="med" w="med" type="triangle"/>
          </a:ln>
        </p:spPr>
      </p:cxnSp>
      <p:cxnSp>
        <p:nvCxnSpPr>
          <p:cNvPr id="153" name="Google Shape;153;p48"/>
          <p:cNvCxnSpPr/>
          <p:nvPr/>
        </p:nvCxnSpPr>
        <p:spPr>
          <a:xfrm>
            <a:off x="4682671" y="1767840"/>
            <a:ext cx="2765246" cy="5923"/>
          </a:xfrm>
          <a:prstGeom prst="straightConnector1">
            <a:avLst/>
          </a:prstGeom>
          <a:noFill/>
          <a:ln cap="flat" cmpd="sng" w="9525">
            <a:solidFill>
              <a:schemeClr val="accent1"/>
            </a:solidFill>
            <a:prstDash val="solid"/>
            <a:miter lim="800000"/>
            <a:headEnd len="med" w="med" type="triangle"/>
            <a:tailEnd len="med" w="med" type="triangle"/>
          </a:ln>
        </p:spPr>
      </p:cxnSp>
      <p:cxnSp>
        <p:nvCxnSpPr>
          <p:cNvPr id="154" name="Google Shape;154;p48"/>
          <p:cNvCxnSpPr/>
          <p:nvPr/>
        </p:nvCxnSpPr>
        <p:spPr>
          <a:xfrm>
            <a:off x="7518765" y="1767840"/>
            <a:ext cx="4309200" cy="5923"/>
          </a:xfrm>
          <a:prstGeom prst="straightConnector1">
            <a:avLst/>
          </a:prstGeom>
          <a:noFill/>
          <a:ln cap="flat" cmpd="sng" w="9525">
            <a:solidFill>
              <a:schemeClr val="accent1"/>
            </a:solidFill>
            <a:prstDash val="solid"/>
            <a:miter lim="800000"/>
            <a:headEnd len="med" w="med" type="triangle"/>
            <a:tailEnd len="med" w="med" type="triangle"/>
          </a:ln>
        </p:spPr>
      </p:cxnSp>
      <p:cxnSp>
        <p:nvCxnSpPr>
          <p:cNvPr id="155" name="Google Shape;155;p48"/>
          <p:cNvCxnSpPr/>
          <p:nvPr/>
        </p:nvCxnSpPr>
        <p:spPr>
          <a:xfrm>
            <a:off x="5368685" y="2242808"/>
            <a:ext cx="0" cy="360000"/>
          </a:xfrm>
          <a:prstGeom prst="straightConnector1">
            <a:avLst/>
          </a:prstGeom>
          <a:noFill/>
          <a:ln cap="flat" cmpd="sng" w="12700">
            <a:solidFill>
              <a:schemeClr val="accent1"/>
            </a:solidFill>
            <a:prstDash val="solid"/>
            <a:miter lim="800000"/>
            <a:headEnd len="sm" w="sm" type="none"/>
            <a:tailEnd len="sm" w="sm" type="none"/>
          </a:ln>
        </p:spPr>
      </p:cxnSp>
      <p:cxnSp>
        <p:nvCxnSpPr>
          <p:cNvPr id="156" name="Google Shape;156;p48"/>
          <p:cNvCxnSpPr/>
          <p:nvPr/>
        </p:nvCxnSpPr>
        <p:spPr>
          <a:xfrm>
            <a:off x="6791780" y="2242807"/>
            <a:ext cx="0" cy="1890000"/>
          </a:xfrm>
          <a:prstGeom prst="straightConnector1">
            <a:avLst/>
          </a:prstGeom>
          <a:noFill/>
          <a:ln cap="flat" cmpd="sng" w="12700">
            <a:solidFill>
              <a:schemeClr val="accent1"/>
            </a:solidFill>
            <a:prstDash val="solid"/>
            <a:miter lim="800000"/>
            <a:headEnd len="sm" w="sm" type="none"/>
            <a:tailEnd len="sm" w="sm" type="none"/>
          </a:ln>
        </p:spPr>
      </p:cxnSp>
      <p:cxnSp>
        <p:nvCxnSpPr>
          <p:cNvPr id="157" name="Google Shape;157;p48"/>
          <p:cNvCxnSpPr/>
          <p:nvPr/>
        </p:nvCxnSpPr>
        <p:spPr>
          <a:xfrm>
            <a:off x="8179107" y="2242806"/>
            <a:ext cx="0" cy="360000"/>
          </a:xfrm>
          <a:prstGeom prst="straightConnector1">
            <a:avLst/>
          </a:prstGeom>
          <a:noFill/>
          <a:ln cap="flat" cmpd="sng" w="12700">
            <a:solidFill>
              <a:schemeClr val="accent1"/>
            </a:solidFill>
            <a:prstDash val="solid"/>
            <a:miter lim="800000"/>
            <a:headEnd len="sm" w="sm" type="none"/>
            <a:tailEnd len="sm" w="sm" type="none"/>
          </a:ln>
        </p:spPr>
      </p:cxnSp>
      <p:cxnSp>
        <p:nvCxnSpPr>
          <p:cNvPr id="158" name="Google Shape;158;p48"/>
          <p:cNvCxnSpPr/>
          <p:nvPr/>
        </p:nvCxnSpPr>
        <p:spPr>
          <a:xfrm>
            <a:off x="9632079" y="2242806"/>
            <a:ext cx="0" cy="1890000"/>
          </a:xfrm>
          <a:prstGeom prst="straightConnector1">
            <a:avLst/>
          </a:prstGeom>
          <a:noFill/>
          <a:ln cap="flat" cmpd="sng" w="12700">
            <a:solidFill>
              <a:schemeClr val="accent1"/>
            </a:solidFill>
            <a:prstDash val="solid"/>
            <a:miter lim="800000"/>
            <a:headEnd len="sm" w="sm" type="none"/>
            <a:tailEnd len="sm" w="sm" type="none"/>
          </a:ln>
        </p:spPr>
      </p:cxnSp>
      <p:cxnSp>
        <p:nvCxnSpPr>
          <p:cNvPr id="159" name="Google Shape;159;p48"/>
          <p:cNvCxnSpPr/>
          <p:nvPr/>
        </p:nvCxnSpPr>
        <p:spPr>
          <a:xfrm>
            <a:off x="11085050" y="2242807"/>
            <a:ext cx="0" cy="360000"/>
          </a:xfrm>
          <a:prstGeom prst="straightConnector1">
            <a:avLst/>
          </a:prstGeom>
          <a:noFill/>
          <a:ln cap="flat" cmpd="sng" w="12700">
            <a:solidFill>
              <a:schemeClr val="accent1"/>
            </a:solidFill>
            <a:prstDash val="solid"/>
            <a:miter lim="800000"/>
            <a:headEnd len="sm" w="sm" type="none"/>
            <a:tailEnd len="sm" w="sm" type="none"/>
          </a:ln>
        </p:spPr>
      </p:cxnSp>
      <p:sp>
        <p:nvSpPr>
          <p:cNvPr id="160" name="Google Shape;160;p48"/>
          <p:cNvSpPr txBox="1"/>
          <p:nvPr>
            <p:ph idx="1" type="body"/>
          </p:nvPr>
        </p:nvSpPr>
        <p:spPr>
          <a:xfrm>
            <a:off x="4655897" y="2703098"/>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48"/>
          <p:cNvSpPr txBox="1"/>
          <p:nvPr>
            <p:ph idx="2" type="body"/>
          </p:nvPr>
        </p:nvSpPr>
        <p:spPr>
          <a:xfrm>
            <a:off x="6094582" y="4281997"/>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48"/>
          <p:cNvSpPr txBox="1"/>
          <p:nvPr>
            <p:ph idx="3" type="body"/>
          </p:nvPr>
        </p:nvSpPr>
        <p:spPr>
          <a:xfrm>
            <a:off x="8926992" y="4281997"/>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48"/>
          <p:cNvSpPr txBox="1"/>
          <p:nvPr>
            <p:ph idx="4" type="body"/>
          </p:nvPr>
        </p:nvSpPr>
        <p:spPr>
          <a:xfrm>
            <a:off x="7466005" y="2703098"/>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48"/>
          <p:cNvSpPr txBox="1"/>
          <p:nvPr>
            <p:ph idx="5" type="body"/>
          </p:nvPr>
        </p:nvSpPr>
        <p:spPr>
          <a:xfrm>
            <a:off x="10387625" y="2703098"/>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65" name="Google Shape;165;p48"/>
          <p:cNvCxnSpPr/>
          <p:nvPr/>
        </p:nvCxnSpPr>
        <p:spPr>
          <a:xfrm>
            <a:off x="2458786" y="2242806"/>
            <a:ext cx="0" cy="360000"/>
          </a:xfrm>
          <a:prstGeom prst="straightConnector1">
            <a:avLst/>
          </a:prstGeom>
          <a:noFill/>
          <a:ln cap="flat" cmpd="sng" w="12700">
            <a:solidFill>
              <a:schemeClr val="accent1"/>
            </a:solidFill>
            <a:prstDash val="solid"/>
            <a:miter lim="800000"/>
            <a:headEnd len="sm" w="sm" type="none"/>
            <a:tailEnd len="sm" w="sm" type="none"/>
          </a:ln>
        </p:spPr>
      </p:cxnSp>
      <p:cxnSp>
        <p:nvCxnSpPr>
          <p:cNvPr id="166" name="Google Shape;166;p48"/>
          <p:cNvCxnSpPr/>
          <p:nvPr/>
        </p:nvCxnSpPr>
        <p:spPr>
          <a:xfrm>
            <a:off x="3910292" y="2242806"/>
            <a:ext cx="0" cy="1890000"/>
          </a:xfrm>
          <a:prstGeom prst="straightConnector1">
            <a:avLst/>
          </a:prstGeom>
          <a:noFill/>
          <a:ln cap="flat" cmpd="sng" w="12700">
            <a:solidFill>
              <a:schemeClr val="accent1"/>
            </a:solidFill>
            <a:prstDash val="solid"/>
            <a:miter lim="800000"/>
            <a:headEnd len="sm" w="sm" type="none"/>
            <a:tailEnd len="sm" w="sm" type="none"/>
          </a:ln>
        </p:spPr>
      </p:cxnSp>
      <p:sp>
        <p:nvSpPr>
          <p:cNvPr id="167" name="Google Shape;167;p48"/>
          <p:cNvSpPr txBox="1"/>
          <p:nvPr>
            <p:ph idx="6" type="body"/>
          </p:nvPr>
        </p:nvSpPr>
        <p:spPr>
          <a:xfrm>
            <a:off x="3205205" y="4281997"/>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48"/>
          <p:cNvSpPr txBox="1"/>
          <p:nvPr>
            <p:ph idx="7" type="body"/>
          </p:nvPr>
        </p:nvSpPr>
        <p:spPr>
          <a:xfrm>
            <a:off x="1745684" y="2703098"/>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69" name="Google Shape;169;p48"/>
          <p:cNvCxnSpPr/>
          <p:nvPr/>
        </p:nvCxnSpPr>
        <p:spPr>
          <a:xfrm>
            <a:off x="999824" y="2242806"/>
            <a:ext cx="0" cy="1890000"/>
          </a:xfrm>
          <a:prstGeom prst="straightConnector1">
            <a:avLst/>
          </a:prstGeom>
          <a:noFill/>
          <a:ln cap="flat" cmpd="sng" w="12700">
            <a:solidFill>
              <a:schemeClr val="accent1"/>
            </a:solidFill>
            <a:prstDash val="solid"/>
            <a:miter lim="800000"/>
            <a:headEnd len="sm" w="sm" type="none"/>
            <a:tailEnd len="sm" w="sm" type="none"/>
          </a:ln>
        </p:spPr>
      </p:cxnSp>
      <p:sp>
        <p:nvSpPr>
          <p:cNvPr id="170" name="Google Shape;170;p48"/>
          <p:cNvSpPr txBox="1"/>
          <p:nvPr>
            <p:ph idx="8" type="body"/>
          </p:nvPr>
        </p:nvSpPr>
        <p:spPr>
          <a:xfrm>
            <a:off x="294737" y="4281997"/>
            <a:ext cx="1419581" cy="143400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dk2"/>
              </a:buClr>
              <a:buSzPts val="1100"/>
              <a:buNone/>
              <a:defRPr b="0" sz="1100">
                <a:latin typeface="Arial"/>
                <a:ea typeface="Arial"/>
                <a:cs typeface="Arial"/>
                <a:sym typeface="Arial"/>
              </a:defRPr>
            </a:lvl1pPr>
            <a:lvl2pPr indent="-228600" lvl="1" marL="914400" algn="l">
              <a:lnSpc>
                <a:spcPct val="90000"/>
              </a:lnSpc>
              <a:spcBef>
                <a:spcPts val="500"/>
              </a:spcBef>
              <a:spcAft>
                <a:spcPts val="0"/>
              </a:spcAft>
              <a:buClr>
                <a:schemeClr val="dk2"/>
              </a:buClr>
              <a:buSzPts val="1080"/>
              <a:buNone/>
              <a:defRPr>
                <a:solidFill>
                  <a:schemeClr val="dk2"/>
                </a:solidFill>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48"/>
          <p:cNvSpPr txBox="1"/>
          <p:nvPr>
            <p:ph idx="9" type="body"/>
          </p:nvPr>
        </p:nvSpPr>
        <p:spPr>
          <a:xfrm>
            <a:off x="325438"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48"/>
          <p:cNvSpPr txBox="1"/>
          <p:nvPr>
            <p:ph idx="13" type="body"/>
          </p:nvPr>
        </p:nvSpPr>
        <p:spPr>
          <a:xfrm>
            <a:off x="1765102"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48"/>
          <p:cNvSpPr txBox="1"/>
          <p:nvPr>
            <p:ph idx="14" type="body"/>
          </p:nvPr>
        </p:nvSpPr>
        <p:spPr>
          <a:xfrm>
            <a:off x="3204766"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48"/>
          <p:cNvSpPr txBox="1"/>
          <p:nvPr>
            <p:ph idx="15" type="body"/>
          </p:nvPr>
        </p:nvSpPr>
        <p:spPr>
          <a:xfrm>
            <a:off x="4644430"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48"/>
          <p:cNvSpPr txBox="1"/>
          <p:nvPr>
            <p:ph idx="16" type="body"/>
          </p:nvPr>
        </p:nvSpPr>
        <p:spPr>
          <a:xfrm>
            <a:off x="6084094"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48"/>
          <p:cNvSpPr txBox="1"/>
          <p:nvPr>
            <p:ph idx="17" type="body"/>
          </p:nvPr>
        </p:nvSpPr>
        <p:spPr>
          <a:xfrm>
            <a:off x="7523758"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48"/>
          <p:cNvSpPr txBox="1"/>
          <p:nvPr>
            <p:ph idx="18" type="body"/>
          </p:nvPr>
        </p:nvSpPr>
        <p:spPr>
          <a:xfrm>
            <a:off x="8963422"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48"/>
          <p:cNvSpPr txBox="1"/>
          <p:nvPr>
            <p:ph idx="19" type="body"/>
          </p:nvPr>
        </p:nvSpPr>
        <p:spPr>
          <a:xfrm>
            <a:off x="10403083" y="1960563"/>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48"/>
          <p:cNvSpPr txBox="1"/>
          <p:nvPr>
            <p:ph idx="20" type="body"/>
          </p:nvPr>
        </p:nvSpPr>
        <p:spPr>
          <a:xfrm>
            <a:off x="1822054" y="1439245"/>
            <a:ext cx="1382712" cy="254000"/>
          </a:xfrm>
          <a:prstGeom prst="rect">
            <a:avLst/>
          </a:prstGeom>
          <a:no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accent1"/>
              </a:buClr>
              <a:buSzPts val="1400"/>
              <a:buNone/>
              <a:defRPr sz="1400">
                <a:solidFill>
                  <a:schemeClr val="accent1"/>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48"/>
          <p:cNvSpPr txBox="1"/>
          <p:nvPr>
            <p:ph idx="21" type="body"/>
          </p:nvPr>
        </p:nvSpPr>
        <p:spPr>
          <a:xfrm>
            <a:off x="5368142" y="1439245"/>
            <a:ext cx="1382712" cy="254000"/>
          </a:xfrm>
          <a:prstGeom prst="rect">
            <a:avLst/>
          </a:prstGeom>
          <a:no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accent1"/>
              </a:buClr>
              <a:buSzPts val="1400"/>
              <a:buNone/>
              <a:defRPr sz="1400">
                <a:solidFill>
                  <a:schemeClr val="accent1"/>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48"/>
          <p:cNvSpPr txBox="1"/>
          <p:nvPr>
            <p:ph idx="22" type="body"/>
          </p:nvPr>
        </p:nvSpPr>
        <p:spPr>
          <a:xfrm>
            <a:off x="8969986" y="1439245"/>
            <a:ext cx="1382712" cy="254000"/>
          </a:xfrm>
          <a:prstGeom prst="rect">
            <a:avLst/>
          </a:prstGeom>
          <a:no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accent1"/>
              </a:buClr>
              <a:buSzPts val="1400"/>
              <a:buNone/>
              <a:defRPr sz="1400">
                <a:solidFill>
                  <a:schemeClr val="accent1"/>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82" name="Shape 182"/>
        <p:cNvGrpSpPr/>
        <p:nvPr/>
      </p:nvGrpSpPr>
      <p:grpSpPr>
        <a:xfrm>
          <a:off x="0" y="0"/>
          <a:ext cx="0" cy="0"/>
          <a:chOff x="0" y="0"/>
          <a:chExt cx="0" cy="0"/>
        </a:xfrm>
      </p:grpSpPr>
      <p:sp>
        <p:nvSpPr>
          <p:cNvPr id="183" name="Google Shape;183;p49"/>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49"/>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49"/>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49"/>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187" name="Google Shape;187;p49"/>
          <p:cNvCxnSpPr/>
          <p:nvPr/>
        </p:nvCxnSpPr>
        <p:spPr>
          <a:xfrm>
            <a:off x="304436" y="1826832"/>
            <a:ext cx="4500000" cy="0"/>
          </a:xfrm>
          <a:prstGeom prst="straightConnector1">
            <a:avLst/>
          </a:prstGeom>
          <a:noFill/>
          <a:ln cap="flat" cmpd="sng" w="9525">
            <a:solidFill>
              <a:schemeClr val="accent1"/>
            </a:solidFill>
            <a:prstDash val="solid"/>
            <a:miter lim="800000"/>
            <a:headEnd len="med" w="med" type="triangle"/>
            <a:tailEnd len="med" w="med" type="triangle"/>
          </a:ln>
        </p:spPr>
      </p:cxnSp>
      <p:cxnSp>
        <p:nvCxnSpPr>
          <p:cNvPr id="188" name="Google Shape;188;p49"/>
          <p:cNvCxnSpPr/>
          <p:nvPr/>
        </p:nvCxnSpPr>
        <p:spPr>
          <a:xfrm>
            <a:off x="9304436" y="1826832"/>
            <a:ext cx="1764000" cy="0"/>
          </a:xfrm>
          <a:prstGeom prst="straightConnector1">
            <a:avLst/>
          </a:prstGeom>
          <a:noFill/>
          <a:ln cap="flat" cmpd="sng" w="9525">
            <a:solidFill>
              <a:schemeClr val="accent1"/>
            </a:solidFill>
            <a:prstDash val="solid"/>
            <a:miter lim="800000"/>
            <a:headEnd len="med" w="med" type="triangle"/>
            <a:tailEnd len="med" w="med" type="triangle"/>
          </a:ln>
        </p:spPr>
      </p:cxnSp>
      <p:cxnSp>
        <p:nvCxnSpPr>
          <p:cNvPr id="189" name="Google Shape;189;p49"/>
          <p:cNvCxnSpPr/>
          <p:nvPr/>
        </p:nvCxnSpPr>
        <p:spPr>
          <a:xfrm>
            <a:off x="832938" y="1928430"/>
            <a:ext cx="684000" cy="0"/>
          </a:xfrm>
          <a:prstGeom prst="straightConnector1">
            <a:avLst/>
          </a:prstGeom>
          <a:noFill/>
          <a:ln cap="flat" cmpd="sng" w="38100">
            <a:solidFill>
              <a:srgbClr val="FF0000"/>
            </a:solidFill>
            <a:prstDash val="solid"/>
            <a:miter lim="800000"/>
            <a:headEnd len="sm" w="sm" type="none"/>
            <a:tailEnd len="sm" w="sm" type="none"/>
          </a:ln>
        </p:spPr>
      </p:cxnSp>
      <p:cxnSp>
        <p:nvCxnSpPr>
          <p:cNvPr id="190" name="Google Shape;190;p49"/>
          <p:cNvCxnSpPr/>
          <p:nvPr/>
        </p:nvCxnSpPr>
        <p:spPr>
          <a:xfrm>
            <a:off x="1188719" y="2030030"/>
            <a:ext cx="1152000" cy="0"/>
          </a:xfrm>
          <a:prstGeom prst="straightConnector1">
            <a:avLst/>
          </a:prstGeom>
          <a:noFill/>
          <a:ln cap="flat" cmpd="sng" w="38100">
            <a:solidFill>
              <a:srgbClr val="00B050"/>
            </a:solidFill>
            <a:prstDash val="solid"/>
            <a:miter lim="800000"/>
            <a:headEnd len="sm" w="sm" type="none"/>
            <a:tailEnd len="sm" w="sm" type="none"/>
          </a:ln>
        </p:spPr>
      </p:cxnSp>
      <p:cxnSp>
        <p:nvCxnSpPr>
          <p:cNvPr id="191" name="Google Shape;191;p49"/>
          <p:cNvCxnSpPr/>
          <p:nvPr/>
        </p:nvCxnSpPr>
        <p:spPr>
          <a:xfrm>
            <a:off x="1188720" y="2162110"/>
            <a:ext cx="3420000" cy="0"/>
          </a:xfrm>
          <a:prstGeom prst="straightConnector1">
            <a:avLst/>
          </a:prstGeom>
          <a:noFill/>
          <a:ln cap="flat" cmpd="sng" w="38100">
            <a:solidFill>
              <a:schemeClr val="accent5"/>
            </a:solidFill>
            <a:prstDash val="solid"/>
            <a:miter lim="800000"/>
            <a:headEnd len="sm" w="sm" type="none"/>
            <a:tailEnd len="sm" w="sm" type="none"/>
          </a:ln>
        </p:spPr>
      </p:cxnSp>
      <p:cxnSp>
        <p:nvCxnSpPr>
          <p:cNvPr id="192" name="Google Shape;192;p49"/>
          <p:cNvCxnSpPr/>
          <p:nvPr/>
        </p:nvCxnSpPr>
        <p:spPr>
          <a:xfrm>
            <a:off x="1492436" y="2294190"/>
            <a:ext cx="3312000" cy="0"/>
          </a:xfrm>
          <a:prstGeom prst="straightConnector1">
            <a:avLst/>
          </a:prstGeom>
          <a:noFill/>
          <a:ln cap="flat" cmpd="sng" w="38100">
            <a:solidFill>
              <a:srgbClr val="7030A0"/>
            </a:solidFill>
            <a:prstDash val="solid"/>
            <a:miter lim="800000"/>
            <a:headEnd len="sm" w="sm" type="none"/>
            <a:tailEnd len="sm" w="sm" type="none"/>
          </a:ln>
        </p:spPr>
      </p:cxnSp>
      <p:cxnSp>
        <p:nvCxnSpPr>
          <p:cNvPr id="193" name="Google Shape;193;p49"/>
          <p:cNvCxnSpPr/>
          <p:nvPr/>
        </p:nvCxnSpPr>
        <p:spPr>
          <a:xfrm>
            <a:off x="4804436" y="1826832"/>
            <a:ext cx="4500000" cy="0"/>
          </a:xfrm>
          <a:prstGeom prst="straightConnector1">
            <a:avLst/>
          </a:prstGeom>
          <a:noFill/>
          <a:ln cap="flat" cmpd="sng" w="9525">
            <a:solidFill>
              <a:schemeClr val="accent1"/>
            </a:solidFill>
            <a:prstDash val="solid"/>
            <a:miter lim="800000"/>
            <a:headEnd len="med" w="med" type="triangle"/>
            <a:tailEnd len="med" w="med" type="triangle"/>
          </a:ln>
        </p:spPr>
      </p:cxnSp>
      <p:cxnSp>
        <p:nvCxnSpPr>
          <p:cNvPr id="194" name="Google Shape;194;p49"/>
          <p:cNvCxnSpPr/>
          <p:nvPr/>
        </p:nvCxnSpPr>
        <p:spPr>
          <a:xfrm>
            <a:off x="4804436" y="2416110"/>
            <a:ext cx="3576319" cy="0"/>
          </a:xfrm>
          <a:prstGeom prst="straightConnector1">
            <a:avLst/>
          </a:prstGeom>
          <a:noFill/>
          <a:ln cap="flat" cmpd="sng" w="38100">
            <a:solidFill>
              <a:srgbClr val="EDA233"/>
            </a:solidFill>
            <a:prstDash val="solid"/>
            <a:miter lim="800000"/>
            <a:headEnd len="sm" w="sm" type="none"/>
            <a:tailEnd len="sm" w="sm" type="none"/>
          </a:ln>
        </p:spPr>
      </p:cxnSp>
      <p:cxnSp>
        <p:nvCxnSpPr>
          <p:cNvPr id="195" name="Google Shape;195;p49"/>
          <p:cNvCxnSpPr/>
          <p:nvPr/>
        </p:nvCxnSpPr>
        <p:spPr>
          <a:xfrm>
            <a:off x="4804435" y="2548190"/>
            <a:ext cx="3960000" cy="0"/>
          </a:xfrm>
          <a:prstGeom prst="straightConnector1">
            <a:avLst/>
          </a:prstGeom>
          <a:noFill/>
          <a:ln cap="flat" cmpd="sng" w="38100">
            <a:solidFill>
              <a:srgbClr val="32DAFE"/>
            </a:solidFill>
            <a:prstDash val="solid"/>
            <a:miter lim="800000"/>
            <a:headEnd len="sm" w="sm" type="none"/>
            <a:tailEnd len="sm" w="sm" type="none"/>
          </a:ln>
        </p:spPr>
      </p:cxnSp>
      <p:cxnSp>
        <p:nvCxnSpPr>
          <p:cNvPr id="196" name="Google Shape;196;p49"/>
          <p:cNvCxnSpPr/>
          <p:nvPr/>
        </p:nvCxnSpPr>
        <p:spPr>
          <a:xfrm>
            <a:off x="7208683" y="2700590"/>
            <a:ext cx="3281680" cy="0"/>
          </a:xfrm>
          <a:prstGeom prst="straightConnector1">
            <a:avLst/>
          </a:prstGeom>
          <a:noFill/>
          <a:ln cap="flat" cmpd="sng" w="38100">
            <a:solidFill>
              <a:srgbClr val="0070C0"/>
            </a:solidFill>
            <a:prstDash val="solid"/>
            <a:miter lim="800000"/>
            <a:headEnd len="sm" w="sm" type="none"/>
            <a:tailEnd len="sm" w="sm" type="none"/>
          </a:ln>
        </p:spPr>
      </p:cxnSp>
      <p:cxnSp>
        <p:nvCxnSpPr>
          <p:cNvPr id="197" name="Google Shape;197;p49"/>
          <p:cNvCxnSpPr/>
          <p:nvPr/>
        </p:nvCxnSpPr>
        <p:spPr>
          <a:xfrm>
            <a:off x="9304436" y="1502886"/>
            <a:ext cx="0" cy="1350106"/>
          </a:xfrm>
          <a:prstGeom prst="straightConnector1">
            <a:avLst/>
          </a:prstGeom>
          <a:noFill/>
          <a:ln cap="flat" cmpd="sng" w="9525">
            <a:solidFill>
              <a:schemeClr val="accent4"/>
            </a:solidFill>
            <a:prstDash val="solid"/>
            <a:miter lim="800000"/>
            <a:headEnd len="sm" w="sm" type="none"/>
            <a:tailEnd len="sm" w="sm" type="none"/>
          </a:ln>
        </p:spPr>
      </p:cxnSp>
      <p:cxnSp>
        <p:nvCxnSpPr>
          <p:cNvPr id="198" name="Google Shape;198;p49"/>
          <p:cNvCxnSpPr/>
          <p:nvPr/>
        </p:nvCxnSpPr>
        <p:spPr>
          <a:xfrm>
            <a:off x="426174" y="3280501"/>
            <a:ext cx="335462" cy="0"/>
          </a:xfrm>
          <a:prstGeom prst="straightConnector1">
            <a:avLst/>
          </a:prstGeom>
          <a:noFill/>
          <a:ln cap="flat" cmpd="sng" w="38100">
            <a:solidFill>
              <a:srgbClr val="FF0000"/>
            </a:solidFill>
            <a:prstDash val="solid"/>
            <a:miter lim="800000"/>
            <a:headEnd len="sm" w="sm" type="none"/>
            <a:tailEnd len="sm" w="sm" type="none"/>
          </a:ln>
        </p:spPr>
      </p:cxnSp>
      <p:cxnSp>
        <p:nvCxnSpPr>
          <p:cNvPr id="199" name="Google Shape;199;p49"/>
          <p:cNvCxnSpPr/>
          <p:nvPr/>
        </p:nvCxnSpPr>
        <p:spPr>
          <a:xfrm>
            <a:off x="426174" y="3692991"/>
            <a:ext cx="335462" cy="0"/>
          </a:xfrm>
          <a:prstGeom prst="straightConnector1">
            <a:avLst/>
          </a:prstGeom>
          <a:noFill/>
          <a:ln cap="flat" cmpd="sng" w="38100">
            <a:solidFill>
              <a:srgbClr val="00B050"/>
            </a:solidFill>
            <a:prstDash val="solid"/>
            <a:miter lim="800000"/>
            <a:headEnd len="sm" w="sm" type="none"/>
            <a:tailEnd len="sm" w="sm" type="none"/>
          </a:ln>
        </p:spPr>
      </p:cxnSp>
      <p:cxnSp>
        <p:nvCxnSpPr>
          <p:cNvPr id="200" name="Google Shape;200;p49"/>
          <p:cNvCxnSpPr/>
          <p:nvPr/>
        </p:nvCxnSpPr>
        <p:spPr>
          <a:xfrm>
            <a:off x="426174" y="4105481"/>
            <a:ext cx="335462" cy="0"/>
          </a:xfrm>
          <a:prstGeom prst="straightConnector1">
            <a:avLst/>
          </a:prstGeom>
          <a:noFill/>
          <a:ln cap="flat" cmpd="sng" w="38100">
            <a:solidFill>
              <a:schemeClr val="accent5"/>
            </a:solidFill>
            <a:prstDash val="solid"/>
            <a:miter lim="800000"/>
            <a:headEnd len="sm" w="sm" type="none"/>
            <a:tailEnd len="sm" w="sm" type="none"/>
          </a:ln>
        </p:spPr>
      </p:cxnSp>
      <p:cxnSp>
        <p:nvCxnSpPr>
          <p:cNvPr id="201" name="Google Shape;201;p49"/>
          <p:cNvCxnSpPr/>
          <p:nvPr/>
        </p:nvCxnSpPr>
        <p:spPr>
          <a:xfrm>
            <a:off x="426174" y="4517971"/>
            <a:ext cx="335462" cy="0"/>
          </a:xfrm>
          <a:prstGeom prst="straightConnector1">
            <a:avLst/>
          </a:prstGeom>
          <a:noFill/>
          <a:ln cap="flat" cmpd="sng" w="38100">
            <a:solidFill>
              <a:srgbClr val="7030A0"/>
            </a:solidFill>
            <a:prstDash val="solid"/>
            <a:miter lim="800000"/>
            <a:headEnd len="sm" w="sm" type="none"/>
            <a:tailEnd len="sm" w="sm" type="none"/>
          </a:ln>
        </p:spPr>
      </p:cxnSp>
      <p:cxnSp>
        <p:nvCxnSpPr>
          <p:cNvPr id="202" name="Google Shape;202;p49"/>
          <p:cNvCxnSpPr/>
          <p:nvPr/>
        </p:nvCxnSpPr>
        <p:spPr>
          <a:xfrm>
            <a:off x="426174" y="4930461"/>
            <a:ext cx="335462" cy="0"/>
          </a:xfrm>
          <a:prstGeom prst="straightConnector1">
            <a:avLst/>
          </a:prstGeom>
          <a:noFill/>
          <a:ln cap="flat" cmpd="sng" w="38100">
            <a:solidFill>
              <a:srgbClr val="EDA233"/>
            </a:solidFill>
            <a:prstDash val="solid"/>
            <a:miter lim="800000"/>
            <a:headEnd len="sm" w="sm" type="none"/>
            <a:tailEnd len="sm" w="sm" type="none"/>
          </a:ln>
        </p:spPr>
      </p:cxnSp>
      <p:cxnSp>
        <p:nvCxnSpPr>
          <p:cNvPr id="203" name="Google Shape;203;p49"/>
          <p:cNvCxnSpPr/>
          <p:nvPr/>
        </p:nvCxnSpPr>
        <p:spPr>
          <a:xfrm>
            <a:off x="426174" y="5342951"/>
            <a:ext cx="335462" cy="0"/>
          </a:xfrm>
          <a:prstGeom prst="straightConnector1">
            <a:avLst/>
          </a:prstGeom>
          <a:noFill/>
          <a:ln cap="flat" cmpd="sng" w="38100">
            <a:solidFill>
              <a:srgbClr val="00B0F0"/>
            </a:solidFill>
            <a:prstDash val="solid"/>
            <a:miter lim="800000"/>
            <a:headEnd len="sm" w="sm" type="none"/>
            <a:tailEnd len="sm" w="sm" type="none"/>
          </a:ln>
        </p:spPr>
      </p:cxnSp>
      <p:cxnSp>
        <p:nvCxnSpPr>
          <p:cNvPr id="204" name="Google Shape;204;p49"/>
          <p:cNvCxnSpPr/>
          <p:nvPr/>
        </p:nvCxnSpPr>
        <p:spPr>
          <a:xfrm>
            <a:off x="426174" y="5755441"/>
            <a:ext cx="335462" cy="0"/>
          </a:xfrm>
          <a:prstGeom prst="straightConnector1">
            <a:avLst/>
          </a:prstGeom>
          <a:noFill/>
          <a:ln cap="flat" cmpd="sng" w="38100">
            <a:solidFill>
              <a:srgbClr val="0070C0"/>
            </a:solidFill>
            <a:prstDash val="solid"/>
            <a:miter lim="800000"/>
            <a:headEnd len="sm" w="sm" type="none"/>
            <a:tailEnd len="sm" w="sm" type="none"/>
          </a:ln>
        </p:spPr>
      </p:cxnSp>
      <p:cxnSp>
        <p:nvCxnSpPr>
          <p:cNvPr id="205" name="Google Shape;205;p49"/>
          <p:cNvCxnSpPr/>
          <p:nvPr/>
        </p:nvCxnSpPr>
        <p:spPr>
          <a:xfrm>
            <a:off x="4804736" y="1412623"/>
            <a:ext cx="0" cy="1440369"/>
          </a:xfrm>
          <a:prstGeom prst="straightConnector1">
            <a:avLst/>
          </a:prstGeom>
          <a:noFill/>
          <a:ln cap="flat" cmpd="sng" w="9525">
            <a:solidFill>
              <a:schemeClr val="accent4"/>
            </a:solidFill>
            <a:prstDash val="solid"/>
            <a:miter lim="800000"/>
            <a:headEnd len="sm" w="sm" type="none"/>
            <a:tailEnd len="sm" w="sm" type="none"/>
          </a:ln>
        </p:spPr>
      </p:cxnSp>
      <p:sp>
        <p:nvSpPr>
          <p:cNvPr id="206" name="Google Shape;206;p49"/>
          <p:cNvSpPr txBox="1"/>
          <p:nvPr>
            <p:ph idx="1" type="body"/>
          </p:nvPr>
        </p:nvSpPr>
        <p:spPr>
          <a:xfrm>
            <a:off x="1822054" y="1439245"/>
            <a:ext cx="1382712" cy="254000"/>
          </a:xfrm>
          <a:prstGeom prst="rect">
            <a:avLst/>
          </a:prstGeom>
          <a:no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accent1"/>
              </a:buClr>
              <a:buSzPts val="1400"/>
              <a:buNone/>
              <a:defRPr sz="1400">
                <a:solidFill>
                  <a:schemeClr val="accent1"/>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49"/>
          <p:cNvSpPr txBox="1"/>
          <p:nvPr>
            <p:ph idx="2" type="body"/>
          </p:nvPr>
        </p:nvSpPr>
        <p:spPr>
          <a:xfrm>
            <a:off x="6482544" y="1439245"/>
            <a:ext cx="1382712" cy="254000"/>
          </a:xfrm>
          <a:prstGeom prst="rect">
            <a:avLst/>
          </a:prstGeom>
          <a:no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accent1"/>
              </a:buClr>
              <a:buSzPts val="1400"/>
              <a:buNone/>
              <a:defRPr sz="1400">
                <a:solidFill>
                  <a:schemeClr val="accent1"/>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49"/>
          <p:cNvSpPr txBox="1"/>
          <p:nvPr>
            <p:ph idx="3" type="body"/>
          </p:nvPr>
        </p:nvSpPr>
        <p:spPr>
          <a:xfrm>
            <a:off x="9530545" y="1439245"/>
            <a:ext cx="1382712" cy="254000"/>
          </a:xfrm>
          <a:prstGeom prst="rect">
            <a:avLst/>
          </a:prstGeom>
          <a:no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accent1"/>
              </a:buClr>
              <a:buSzPts val="1400"/>
              <a:buNone/>
              <a:defRPr sz="1400">
                <a:solidFill>
                  <a:schemeClr val="accent1"/>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49"/>
          <p:cNvSpPr txBox="1"/>
          <p:nvPr>
            <p:ph idx="4" type="body"/>
          </p:nvPr>
        </p:nvSpPr>
        <p:spPr>
          <a:xfrm>
            <a:off x="832938" y="3170238"/>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49"/>
          <p:cNvSpPr txBox="1"/>
          <p:nvPr>
            <p:ph idx="5" type="body"/>
          </p:nvPr>
        </p:nvSpPr>
        <p:spPr>
          <a:xfrm>
            <a:off x="832938" y="3573361"/>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49"/>
          <p:cNvSpPr txBox="1"/>
          <p:nvPr>
            <p:ph idx="6" type="body"/>
          </p:nvPr>
        </p:nvSpPr>
        <p:spPr>
          <a:xfrm>
            <a:off x="832938" y="3966651"/>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9"/>
          <p:cNvSpPr txBox="1"/>
          <p:nvPr>
            <p:ph idx="7" type="body"/>
          </p:nvPr>
        </p:nvSpPr>
        <p:spPr>
          <a:xfrm>
            <a:off x="832938" y="4379606"/>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49"/>
          <p:cNvSpPr txBox="1"/>
          <p:nvPr>
            <p:ph idx="8" type="body"/>
          </p:nvPr>
        </p:nvSpPr>
        <p:spPr>
          <a:xfrm>
            <a:off x="832938" y="4782728"/>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49"/>
          <p:cNvSpPr txBox="1"/>
          <p:nvPr>
            <p:ph idx="9" type="body"/>
          </p:nvPr>
        </p:nvSpPr>
        <p:spPr>
          <a:xfrm>
            <a:off x="832938" y="5194707"/>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49"/>
          <p:cNvSpPr txBox="1"/>
          <p:nvPr>
            <p:ph idx="13" type="body"/>
          </p:nvPr>
        </p:nvSpPr>
        <p:spPr>
          <a:xfrm>
            <a:off x="832938" y="5599470"/>
            <a:ext cx="1382712" cy="254000"/>
          </a:xfrm>
          <a:prstGeom prst="rect">
            <a:avLst/>
          </a:prstGeom>
          <a:solidFill>
            <a:srgbClr val="D2EEF6"/>
          </a:solidFill>
          <a:ln>
            <a:noFill/>
          </a:ln>
        </p:spPr>
        <p:txBody>
          <a:bodyPr anchorCtr="1" anchor="ctr" bIns="45700" lIns="90000" spcFirstLastPara="1" rIns="91425" wrap="square" tIns="45700">
            <a:noAutofit/>
          </a:bodyPr>
          <a:lstStyle>
            <a:lvl1pPr indent="-228600" lvl="0" marL="457200" algn="l">
              <a:lnSpc>
                <a:spcPct val="90000"/>
              </a:lnSpc>
              <a:spcBef>
                <a:spcPts val="1800"/>
              </a:spcBef>
              <a:spcAft>
                <a:spcPts val="0"/>
              </a:spcAft>
              <a:buClr>
                <a:schemeClr val="dk2"/>
              </a:buClr>
              <a:buSzPts val="1000"/>
              <a:buNone/>
              <a:defRPr sz="1000"/>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49"/>
          <p:cNvSpPr txBox="1"/>
          <p:nvPr>
            <p:ph idx="14" type="body"/>
          </p:nvPr>
        </p:nvSpPr>
        <p:spPr>
          <a:xfrm>
            <a:off x="2554436" y="3170238"/>
            <a:ext cx="7164388" cy="254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chemeClr val="dk2"/>
              </a:buClr>
              <a:buSzPts val="1200"/>
              <a:buNone/>
              <a:defRPr sz="1200">
                <a:solidFill>
                  <a:schemeClr val="dk2"/>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49"/>
          <p:cNvSpPr txBox="1"/>
          <p:nvPr>
            <p:ph idx="15" type="body"/>
          </p:nvPr>
        </p:nvSpPr>
        <p:spPr>
          <a:xfrm>
            <a:off x="2554436" y="3573361"/>
            <a:ext cx="7164388" cy="254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chemeClr val="dk2"/>
              </a:buClr>
              <a:buSzPts val="1200"/>
              <a:buNone/>
              <a:defRPr sz="1200">
                <a:solidFill>
                  <a:schemeClr val="dk2"/>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49"/>
          <p:cNvSpPr txBox="1"/>
          <p:nvPr>
            <p:ph idx="16" type="body"/>
          </p:nvPr>
        </p:nvSpPr>
        <p:spPr>
          <a:xfrm>
            <a:off x="2554436" y="3966651"/>
            <a:ext cx="7164388" cy="254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chemeClr val="dk2"/>
              </a:buClr>
              <a:buSzPts val="1200"/>
              <a:buNone/>
              <a:defRPr sz="1200">
                <a:solidFill>
                  <a:schemeClr val="dk2"/>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49"/>
          <p:cNvSpPr txBox="1"/>
          <p:nvPr>
            <p:ph idx="17" type="body"/>
          </p:nvPr>
        </p:nvSpPr>
        <p:spPr>
          <a:xfrm>
            <a:off x="2554436" y="4379606"/>
            <a:ext cx="7164388" cy="254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chemeClr val="dk2"/>
              </a:buClr>
              <a:buSzPts val="1200"/>
              <a:buNone/>
              <a:defRPr sz="1200">
                <a:solidFill>
                  <a:schemeClr val="dk2"/>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49"/>
          <p:cNvSpPr txBox="1"/>
          <p:nvPr>
            <p:ph idx="18" type="body"/>
          </p:nvPr>
        </p:nvSpPr>
        <p:spPr>
          <a:xfrm>
            <a:off x="2554436" y="4782728"/>
            <a:ext cx="7164388" cy="254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chemeClr val="dk2"/>
              </a:buClr>
              <a:buSzPts val="1200"/>
              <a:buNone/>
              <a:defRPr sz="1200">
                <a:solidFill>
                  <a:schemeClr val="dk2"/>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 name="Google Shape;221;p49"/>
          <p:cNvSpPr txBox="1"/>
          <p:nvPr>
            <p:ph idx="19" type="body"/>
          </p:nvPr>
        </p:nvSpPr>
        <p:spPr>
          <a:xfrm>
            <a:off x="2554436" y="5194707"/>
            <a:ext cx="7164388" cy="254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chemeClr val="dk2"/>
              </a:buClr>
              <a:buSzPts val="1200"/>
              <a:buNone/>
              <a:defRPr sz="1200">
                <a:solidFill>
                  <a:schemeClr val="dk2"/>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49"/>
          <p:cNvSpPr txBox="1"/>
          <p:nvPr>
            <p:ph idx="20" type="body"/>
          </p:nvPr>
        </p:nvSpPr>
        <p:spPr>
          <a:xfrm>
            <a:off x="2554436" y="5599470"/>
            <a:ext cx="7164388" cy="254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chemeClr val="dk2"/>
              </a:buClr>
              <a:buSzPts val="1200"/>
              <a:buNone/>
              <a:defRPr sz="1200">
                <a:solidFill>
                  <a:schemeClr val="dk2"/>
                </a:solidFill>
              </a:defRPr>
            </a:lvl1pPr>
            <a:lvl2pPr indent="-297180" lvl="1" marL="914400" algn="l">
              <a:lnSpc>
                <a:spcPct val="90000"/>
              </a:lnSpc>
              <a:spcBef>
                <a:spcPts val="500"/>
              </a:spcBef>
              <a:spcAft>
                <a:spcPts val="0"/>
              </a:spcAft>
              <a:buClr>
                <a:schemeClr val="dk2"/>
              </a:buClr>
              <a:buSzPts val="1080"/>
              <a:buChar char="o"/>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Option 6" showMasterSp="0">
  <p:cSld name="4_Title Slide Option 6">
    <p:spTree>
      <p:nvGrpSpPr>
        <p:cNvPr id="223" name="Shape 223"/>
        <p:cNvGrpSpPr/>
        <p:nvPr/>
      </p:nvGrpSpPr>
      <p:grpSpPr>
        <a:xfrm>
          <a:off x="0" y="0"/>
          <a:ext cx="0" cy="0"/>
          <a:chOff x="0" y="0"/>
          <a:chExt cx="0" cy="0"/>
        </a:xfrm>
      </p:grpSpPr>
      <p:pic>
        <p:nvPicPr>
          <p:cNvPr id="224" name="Google Shape;224;p50"/>
          <p:cNvPicPr preferRelativeResize="0"/>
          <p:nvPr/>
        </p:nvPicPr>
        <p:blipFill rotWithShape="1">
          <a:blip r:embed="rId2">
            <a:alphaModFix/>
          </a:blip>
          <a:srcRect b="0" l="0" r="0" t="0"/>
          <a:stretch/>
        </p:blipFill>
        <p:spPr>
          <a:xfrm>
            <a:off x="0" y="1715"/>
            <a:ext cx="12188951" cy="6856284"/>
          </a:xfrm>
          <a:prstGeom prst="rect">
            <a:avLst/>
          </a:prstGeom>
          <a:noFill/>
          <a:ln>
            <a:noFill/>
          </a:ln>
        </p:spPr>
      </p:pic>
      <p:sp>
        <p:nvSpPr>
          <p:cNvPr id="225" name="Google Shape;225;p50"/>
          <p:cNvSpPr txBox="1"/>
          <p:nvPr>
            <p:ph idx="1" type="subTitle"/>
          </p:nvPr>
        </p:nvSpPr>
        <p:spPr>
          <a:xfrm>
            <a:off x="422226" y="1371600"/>
            <a:ext cx="8019247"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6" name="Google Shape;226;p50"/>
          <p:cNvSpPr txBox="1"/>
          <p:nvPr>
            <p:ph type="title"/>
          </p:nvPr>
        </p:nvSpPr>
        <p:spPr>
          <a:xfrm>
            <a:off x="422226" y="305135"/>
            <a:ext cx="8008096"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50"/>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50"/>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50"/>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230" name="Google Shape;230;p50"/>
          <p:cNvPicPr preferRelativeResize="0"/>
          <p:nvPr/>
        </p:nvPicPr>
        <p:blipFill rotWithShape="1">
          <a:blip r:embed="rId3">
            <a:alphaModFix/>
          </a:blip>
          <a:srcRect b="0" l="0" r="0" t="0"/>
          <a:stretch/>
        </p:blipFill>
        <p:spPr>
          <a:xfrm>
            <a:off x="557693" y="5543566"/>
            <a:ext cx="2124460"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Option 6" showMasterSp="0">
  <p:cSld name="1_Title Slide Option 6">
    <p:spTree>
      <p:nvGrpSpPr>
        <p:cNvPr id="231" name="Shape 231"/>
        <p:cNvGrpSpPr/>
        <p:nvPr/>
      </p:nvGrpSpPr>
      <p:grpSpPr>
        <a:xfrm>
          <a:off x="0" y="0"/>
          <a:ext cx="0" cy="0"/>
          <a:chOff x="0" y="0"/>
          <a:chExt cx="0" cy="0"/>
        </a:xfrm>
      </p:grpSpPr>
      <p:pic>
        <p:nvPicPr>
          <p:cNvPr id="232" name="Google Shape;232;p51"/>
          <p:cNvPicPr preferRelativeResize="0"/>
          <p:nvPr/>
        </p:nvPicPr>
        <p:blipFill rotWithShape="1">
          <a:blip r:embed="rId2">
            <a:alphaModFix/>
          </a:blip>
          <a:srcRect b="0" l="0" r="0" t="0"/>
          <a:stretch/>
        </p:blipFill>
        <p:spPr>
          <a:xfrm>
            <a:off x="1524" y="1713"/>
            <a:ext cx="12188951" cy="6856284"/>
          </a:xfrm>
          <a:prstGeom prst="rect">
            <a:avLst/>
          </a:prstGeom>
          <a:noFill/>
          <a:ln>
            <a:noFill/>
          </a:ln>
        </p:spPr>
      </p:pic>
      <p:sp>
        <p:nvSpPr>
          <p:cNvPr id="233" name="Google Shape;233;p51"/>
          <p:cNvSpPr txBox="1"/>
          <p:nvPr>
            <p:ph idx="1" type="subTitle"/>
          </p:nvPr>
        </p:nvSpPr>
        <p:spPr>
          <a:xfrm>
            <a:off x="422226" y="1371600"/>
            <a:ext cx="8041550"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accent1"/>
              </a:buClr>
              <a:buSzPts val="1600"/>
              <a:buNone/>
              <a:defRPr b="1" sz="1600" cap="none">
                <a:solidFill>
                  <a:schemeClr val="accent1"/>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4" name="Google Shape;234;p51"/>
          <p:cNvSpPr txBox="1"/>
          <p:nvPr>
            <p:ph type="title"/>
          </p:nvPr>
        </p:nvSpPr>
        <p:spPr>
          <a:xfrm>
            <a:off x="422226" y="305135"/>
            <a:ext cx="8052701"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51"/>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51"/>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1"/>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238" name="Google Shape;238;p51"/>
          <p:cNvPicPr preferRelativeResize="0"/>
          <p:nvPr/>
        </p:nvPicPr>
        <p:blipFill rotWithShape="1">
          <a:blip r:embed="rId3">
            <a:alphaModFix/>
          </a:blip>
          <a:srcRect b="0" l="0" r="0" t="0"/>
          <a:stretch/>
        </p:blipFill>
        <p:spPr>
          <a:xfrm>
            <a:off x="572170" y="5543566"/>
            <a:ext cx="2095505"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Option 6" showMasterSp="0">
  <p:cSld name="2_Title Slide Option 6">
    <p:spTree>
      <p:nvGrpSpPr>
        <p:cNvPr id="239" name="Shape 239"/>
        <p:cNvGrpSpPr/>
        <p:nvPr/>
      </p:nvGrpSpPr>
      <p:grpSpPr>
        <a:xfrm>
          <a:off x="0" y="0"/>
          <a:ext cx="0" cy="0"/>
          <a:chOff x="0" y="0"/>
          <a:chExt cx="0" cy="0"/>
        </a:xfrm>
      </p:grpSpPr>
      <p:pic>
        <p:nvPicPr>
          <p:cNvPr id="240" name="Google Shape;240;p52"/>
          <p:cNvPicPr preferRelativeResize="0"/>
          <p:nvPr/>
        </p:nvPicPr>
        <p:blipFill rotWithShape="1">
          <a:blip r:embed="rId2">
            <a:alphaModFix/>
          </a:blip>
          <a:srcRect b="0" l="0" r="11148" t="11149"/>
          <a:stretch/>
        </p:blipFill>
        <p:spPr>
          <a:xfrm>
            <a:off x="1525" y="1713"/>
            <a:ext cx="12188949" cy="6856284"/>
          </a:xfrm>
          <a:prstGeom prst="rect">
            <a:avLst/>
          </a:prstGeom>
          <a:noFill/>
          <a:ln>
            <a:noFill/>
          </a:ln>
        </p:spPr>
      </p:pic>
      <p:sp>
        <p:nvSpPr>
          <p:cNvPr id="241" name="Google Shape;241;p52"/>
          <p:cNvSpPr/>
          <p:nvPr/>
        </p:nvSpPr>
        <p:spPr>
          <a:xfrm rot="10800000">
            <a:off x="-4" y="0"/>
            <a:ext cx="12192001" cy="6858000"/>
          </a:xfrm>
          <a:prstGeom prst="rect">
            <a:avLst/>
          </a:prstGeom>
          <a:gradFill>
            <a:gsLst>
              <a:gs pos="0">
                <a:srgbClr val="FFFFFF">
                  <a:alpha val="0"/>
                </a:srgbClr>
              </a:gs>
              <a:gs pos="54000">
                <a:srgbClr val="FFFFFF">
                  <a:alpha val="0"/>
                </a:srgbClr>
              </a:gs>
              <a:gs pos="71000">
                <a:srgbClr val="FFFFFF">
                  <a:alpha val="52941"/>
                </a:srgbClr>
              </a:gs>
              <a:gs pos="87000">
                <a:srgbClr val="FFFFFF">
                  <a:alpha val="87843"/>
                </a:srgbClr>
              </a:gs>
              <a:gs pos="100000">
                <a:srgbClr val="FFFFFF">
                  <a:alpha val="87843"/>
                </a:srgbClr>
              </a:gs>
            </a:gsLst>
            <a:lin ang="4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42" name="Google Shape;242;p52"/>
          <p:cNvSpPr txBox="1"/>
          <p:nvPr>
            <p:ph idx="1" type="subTitle"/>
          </p:nvPr>
        </p:nvSpPr>
        <p:spPr>
          <a:xfrm>
            <a:off x="422226" y="1371600"/>
            <a:ext cx="8119608"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dk2"/>
              </a:buClr>
              <a:buSzPts val="1600"/>
              <a:buNone/>
              <a:defRPr b="1" sz="1600" cap="none">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3" name="Google Shape;243;p52"/>
          <p:cNvSpPr txBox="1"/>
          <p:nvPr>
            <p:ph type="title"/>
          </p:nvPr>
        </p:nvSpPr>
        <p:spPr>
          <a:xfrm>
            <a:off x="422226" y="305135"/>
            <a:ext cx="8108457"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52"/>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52"/>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52"/>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247" name="Google Shape;247;p52"/>
          <p:cNvPicPr preferRelativeResize="0"/>
          <p:nvPr/>
        </p:nvPicPr>
        <p:blipFill rotWithShape="1">
          <a:blip r:embed="rId3">
            <a:alphaModFix/>
          </a:blip>
          <a:srcRect b="0" l="0" r="0" t="0"/>
          <a:stretch/>
        </p:blipFill>
        <p:spPr>
          <a:xfrm>
            <a:off x="572170" y="5543566"/>
            <a:ext cx="2095505"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Option 6" showMasterSp="0">
  <p:cSld name="3_Title Slide Option 6">
    <p:spTree>
      <p:nvGrpSpPr>
        <p:cNvPr id="248" name="Shape 248"/>
        <p:cNvGrpSpPr/>
        <p:nvPr/>
      </p:nvGrpSpPr>
      <p:grpSpPr>
        <a:xfrm>
          <a:off x="0" y="0"/>
          <a:ext cx="0" cy="0"/>
          <a:chOff x="0" y="0"/>
          <a:chExt cx="0" cy="0"/>
        </a:xfrm>
      </p:grpSpPr>
      <p:pic>
        <p:nvPicPr>
          <p:cNvPr id="249" name="Google Shape;249;p53"/>
          <p:cNvPicPr preferRelativeResize="0"/>
          <p:nvPr/>
        </p:nvPicPr>
        <p:blipFill rotWithShape="1">
          <a:blip r:embed="rId2">
            <a:alphaModFix/>
          </a:blip>
          <a:srcRect b="3907" l="0" r="3907" t="0"/>
          <a:stretch/>
        </p:blipFill>
        <p:spPr>
          <a:xfrm>
            <a:off x="1525" y="1713"/>
            <a:ext cx="12188949" cy="6856283"/>
          </a:xfrm>
          <a:prstGeom prst="rect">
            <a:avLst/>
          </a:prstGeom>
          <a:noFill/>
          <a:ln>
            <a:noFill/>
          </a:ln>
        </p:spPr>
      </p:pic>
      <p:sp>
        <p:nvSpPr>
          <p:cNvPr id="250" name="Google Shape;250;p53"/>
          <p:cNvSpPr/>
          <p:nvPr/>
        </p:nvSpPr>
        <p:spPr>
          <a:xfrm rot="10800000">
            <a:off x="0" y="0"/>
            <a:ext cx="12192001" cy="6858000"/>
          </a:xfrm>
          <a:prstGeom prst="rect">
            <a:avLst/>
          </a:prstGeom>
          <a:gradFill>
            <a:gsLst>
              <a:gs pos="0">
                <a:srgbClr val="FFFFFF">
                  <a:alpha val="0"/>
                </a:srgbClr>
              </a:gs>
              <a:gs pos="54000">
                <a:srgbClr val="FFFFFF">
                  <a:alpha val="0"/>
                </a:srgbClr>
              </a:gs>
              <a:gs pos="71000">
                <a:srgbClr val="FFFFFF">
                  <a:alpha val="52941"/>
                </a:srgbClr>
              </a:gs>
              <a:gs pos="87000">
                <a:srgbClr val="FFFFFF">
                  <a:alpha val="87843"/>
                </a:srgbClr>
              </a:gs>
              <a:gs pos="100000">
                <a:srgbClr val="FFFFFF">
                  <a:alpha val="87843"/>
                </a:srgbClr>
              </a:gs>
            </a:gsLst>
            <a:lin ang="4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51" name="Google Shape;251;p53"/>
          <p:cNvSpPr txBox="1"/>
          <p:nvPr>
            <p:ph idx="1" type="subTitle"/>
          </p:nvPr>
        </p:nvSpPr>
        <p:spPr>
          <a:xfrm>
            <a:off x="422226" y="1371600"/>
            <a:ext cx="8119608" cy="10193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chemeClr val="dk2"/>
              </a:buClr>
              <a:buSzPts val="1600"/>
              <a:buNone/>
              <a:defRPr b="1" sz="1600" cap="none">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12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2" name="Google Shape;252;p53"/>
          <p:cNvSpPr txBox="1"/>
          <p:nvPr>
            <p:ph type="title"/>
          </p:nvPr>
        </p:nvSpPr>
        <p:spPr>
          <a:xfrm>
            <a:off x="422226" y="305135"/>
            <a:ext cx="8108457"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53"/>
          <p:cNvSpPr txBox="1"/>
          <p:nvPr>
            <p:ph idx="10" type="dt"/>
          </p:nvPr>
        </p:nvSpPr>
        <p:spPr>
          <a:xfrm>
            <a:off x="9260635"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53"/>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53"/>
          <p:cNvSpPr txBox="1"/>
          <p:nvPr>
            <p:ph idx="12" type="sldNum"/>
          </p:nvPr>
        </p:nvSpPr>
        <p:spPr>
          <a:xfrm>
            <a:off x="8610601"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256" name="Google Shape;256;p53"/>
          <p:cNvPicPr preferRelativeResize="0"/>
          <p:nvPr/>
        </p:nvPicPr>
        <p:blipFill rotWithShape="1">
          <a:blip r:embed="rId3">
            <a:alphaModFix/>
          </a:blip>
          <a:srcRect b="0" l="0" r="0" t="0"/>
          <a:stretch/>
        </p:blipFill>
        <p:spPr>
          <a:xfrm>
            <a:off x="572170" y="5543566"/>
            <a:ext cx="2095505" cy="762002"/>
          </a:xfrm>
          <a:prstGeom prst="rect">
            <a:avLst/>
          </a:prstGeom>
          <a:noFill/>
          <a:ln>
            <a:noFill/>
          </a:ln>
        </p:spPr>
      </p:pic>
    </p:spTree>
  </p:cSld>
  <p:clrMapOvr>
    <a:masterClrMapping/>
  </p:clrMapOvr>
  <p:extLst>
    <p:ext uri="{DCECCB84-F9BA-43D5-87BE-67443E8EF086}">
      <p15:sldGuideLst>
        <p15:guide id="1" orient="horz" pos="1512">
          <p15:clr>
            <a:srgbClr val="FBAE40"/>
          </p15:clr>
        </p15:guide>
        <p15:guide id="2" pos="70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7" name="Shape 257"/>
        <p:cNvGrpSpPr/>
        <p:nvPr/>
      </p:nvGrpSpPr>
      <p:grpSpPr>
        <a:xfrm>
          <a:off x="0" y="0"/>
          <a:ext cx="0" cy="0"/>
          <a:chOff x="0" y="0"/>
          <a:chExt cx="0" cy="0"/>
        </a:xfrm>
      </p:grpSpPr>
      <p:sp>
        <p:nvSpPr>
          <p:cNvPr id="258" name="Google Shape;258;p54"/>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54"/>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54"/>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54"/>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7224">
          <p15:clr>
            <a:srgbClr val="FBAE40"/>
          </p15:clr>
        </p15:guide>
        <p15:guide id="2" orient="horz" pos="37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62" name="Shape 262"/>
        <p:cNvGrpSpPr/>
        <p:nvPr/>
      </p:nvGrpSpPr>
      <p:grpSpPr>
        <a:xfrm>
          <a:off x="0" y="0"/>
          <a:ext cx="0" cy="0"/>
          <a:chOff x="0" y="0"/>
          <a:chExt cx="0" cy="0"/>
        </a:xfrm>
      </p:grpSpPr>
      <p:sp>
        <p:nvSpPr>
          <p:cNvPr id="263" name="Google Shape;263;p55"/>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55"/>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55"/>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p55"/>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theme" Target="../theme/theme1.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2"/>
              </a:buClr>
              <a:buSzPts val="3200"/>
              <a:buFont typeface="Arial"/>
              <a:buNone/>
              <a:defRPr b="1" i="0" sz="32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422226" y="1452286"/>
            <a:ext cx="9510245" cy="453141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1pPr>
            <a:lvl2pPr indent="-297180" lvl="1" marL="914400" marR="0" rtl="0" algn="l">
              <a:lnSpc>
                <a:spcPct val="90000"/>
              </a:lnSpc>
              <a:spcBef>
                <a:spcPts val="500"/>
              </a:spcBef>
              <a:spcAft>
                <a:spcPts val="0"/>
              </a:spcAft>
              <a:buClr>
                <a:schemeClr val="dk2"/>
              </a:buClr>
              <a:buSzPts val="1080"/>
              <a:buFont typeface="Courier New"/>
              <a:buChar char="o"/>
              <a:defRPr b="0" i="0" sz="1800" u="none" cap="none" strike="noStrike">
                <a:solidFill>
                  <a:schemeClr val="dk2"/>
                </a:solidFill>
                <a:latin typeface="Arial"/>
                <a:ea typeface="Arial"/>
                <a:cs typeface="Arial"/>
                <a:sym typeface="Arial"/>
              </a:defRPr>
            </a:lvl2pPr>
            <a:lvl3pPr indent="-330200" lvl="2" marL="1371600"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3pPr>
            <a:lvl4pPr indent="-317500" lvl="3" marL="1828800"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9"/>
          <p:cNvSpPr txBox="1"/>
          <p:nvPr>
            <p:ph idx="10" type="dt"/>
          </p:nvPr>
        </p:nvSpPr>
        <p:spPr>
          <a:xfrm>
            <a:off x="2332652" y="6319026"/>
            <a:ext cx="12487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9"/>
          <p:cNvSpPr txBox="1"/>
          <p:nvPr>
            <p:ph idx="11" type="ftr"/>
          </p:nvPr>
        </p:nvSpPr>
        <p:spPr>
          <a:xfrm>
            <a:off x="3794449" y="6319026"/>
            <a:ext cx="4603102"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9"/>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1000" u="none" cap="none" strike="noStrike">
                <a:solidFill>
                  <a:srgbClr val="595959"/>
                </a:solidFill>
                <a:latin typeface="Arial"/>
                <a:ea typeface="Arial"/>
                <a:cs typeface="Arial"/>
                <a:sym typeface="Arial"/>
              </a:defRPr>
            </a:lvl1pPr>
            <a:lvl2pPr indent="0" lvl="1" marL="0" marR="0" rtl="0" algn="ctr">
              <a:spcBef>
                <a:spcPts val="0"/>
              </a:spcBef>
              <a:buNone/>
              <a:defRPr b="0" i="0" sz="1000" u="none" cap="none" strike="noStrike">
                <a:solidFill>
                  <a:srgbClr val="595959"/>
                </a:solidFill>
                <a:latin typeface="Arial"/>
                <a:ea typeface="Arial"/>
                <a:cs typeface="Arial"/>
                <a:sym typeface="Arial"/>
              </a:defRPr>
            </a:lvl2pPr>
            <a:lvl3pPr indent="0" lvl="2" marL="0" marR="0" rtl="0" algn="ctr">
              <a:spcBef>
                <a:spcPts val="0"/>
              </a:spcBef>
              <a:buNone/>
              <a:defRPr b="0" i="0" sz="1000" u="none" cap="none" strike="noStrike">
                <a:solidFill>
                  <a:srgbClr val="595959"/>
                </a:solidFill>
                <a:latin typeface="Arial"/>
                <a:ea typeface="Arial"/>
                <a:cs typeface="Arial"/>
                <a:sym typeface="Arial"/>
              </a:defRPr>
            </a:lvl3pPr>
            <a:lvl4pPr indent="0" lvl="3" marL="0" marR="0" rtl="0" algn="ctr">
              <a:spcBef>
                <a:spcPts val="0"/>
              </a:spcBef>
              <a:buNone/>
              <a:defRPr b="0" i="0" sz="1000" u="none" cap="none" strike="noStrike">
                <a:solidFill>
                  <a:srgbClr val="595959"/>
                </a:solidFill>
                <a:latin typeface="Arial"/>
                <a:ea typeface="Arial"/>
                <a:cs typeface="Arial"/>
                <a:sym typeface="Arial"/>
              </a:defRPr>
            </a:lvl4pPr>
            <a:lvl5pPr indent="0" lvl="4" marL="0" marR="0" rtl="0" algn="ctr">
              <a:spcBef>
                <a:spcPts val="0"/>
              </a:spcBef>
              <a:buNone/>
              <a:defRPr b="0" i="0" sz="1000" u="none" cap="none" strike="noStrike">
                <a:solidFill>
                  <a:srgbClr val="595959"/>
                </a:solidFill>
                <a:latin typeface="Arial"/>
                <a:ea typeface="Arial"/>
                <a:cs typeface="Arial"/>
                <a:sym typeface="Arial"/>
              </a:defRPr>
            </a:lvl5pPr>
            <a:lvl6pPr indent="0" lvl="5" marL="0" marR="0" rtl="0" algn="ctr">
              <a:spcBef>
                <a:spcPts val="0"/>
              </a:spcBef>
              <a:buNone/>
              <a:defRPr b="0" i="0" sz="1000" u="none" cap="none" strike="noStrike">
                <a:solidFill>
                  <a:srgbClr val="595959"/>
                </a:solidFill>
                <a:latin typeface="Arial"/>
                <a:ea typeface="Arial"/>
                <a:cs typeface="Arial"/>
                <a:sym typeface="Arial"/>
              </a:defRPr>
            </a:lvl6pPr>
            <a:lvl7pPr indent="0" lvl="6" marL="0" marR="0" rtl="0" algn="ctr">
              <a:spcBef>
                <a:spcPts val="0"/>
              </a:spcBef>
              <a:buNone/>
              <a:defRPr b="0" i="0" sz="1000" u="none" cap="none" strike="noStrike">
                <a:solidFill>
                  <a:srgbClr val="595959"/>
                </a:solidFill>
                <a:latin typeface="Arial"/>
                <a:ea typeface="Arial"/>
                <a:cs typeface="Arial"/>
                <a:sym typeface="Arial"/>
              </a:defRPr>
            </a:lvl7pPr>
            <a:lvl8pPr indent="0" lvl="7" marL="0" marR="0" rtl="0" algn="ctr">
              <a:spcBef>
                <a:spcPts val="0"/>
              </a:spcBef>
              <a:buNone/>
              <a:defRPr b="0" i="0" sz="1000" u="none" cap="none" strike="noStrike">
                <a:solidFill>
                  <a:srgbClr val="595959"/>
                </a:solidFill>
                <a:latin typeface="Arial"/>
                <a:ea typeface="Arial"/>
                <a:cs typeface="Arial"/>
                <a:sym typeface="Arial"/>
              </a:defRPr>
            </a:lvl8pPr>
            <a:lvl9pPr indent="0" lvl="8" marL="0" marR="0" rtl="0" algn="ctr">
              <a:spcBef>
                <a:spcPts val="0"/>
              </a:spcBef>
              <a:buNone/>
              <a:defRPr b="0" i="0" sz="1000" u="none" cap="none" strike="noStrike">
                <a:solidFill>
                  <a:srgbClr val="59595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15" name="Google Shape;15;p29"/>
          <p:cNvCxnSpPr/>
          <p:nvPr/>
        </p:nvCxnSpPr>
        <p:spPr>
          <a:xfrm>
            <a:off x="11432983" y="6354231"/>
            <a:ext cx="0" cy="222378"/>
          </a:xfrm>
          <a:prstGeom prst="straightConnector1">
            <a:avLst/>
          </a:prstGeom>
          <a:noFill/>
          <a:ln cap="flat" cmpd="sng" w="9525">
            <a:solidFill>
              <a:schemeClr val="dk2"/>
            </a:solidFill>
            <a:prstDash val="solid"/>
            <a:miter lim="800000"/>
            <a:headEnd len="sm" w="sm" type="none"/>
            <a:tailEnd len="sm" w="sm" type="none"/>
          </a:ln>
        </p:spPr>
      </p:cxnSp>
      <p:pic>
        <p:nvPicPr>
          <p:cNvPr id="16" name="Google Shape;16;p29"/>
          <p:cNvPicPr preferRelativeResize="0"/>
          <p:nvPr/>
        </p:nvPicPr>
        <p:blipFill rotWithShape="1">
          <a:blip r:embed="rId1">
            <a:alphaModFix/>
          </a:blip>
          <a:srcRect b="0" l="0" r="0" t="0"/>
          <a:stretch/>
        </p:blipFill>
        <p:spPr>
          <a:xfrm>
            <a:off x="422225" y="6106986"/>
            <a:ext cx="1478620" cy="53035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43.png"/><Relationship Id="rId4" Type="http://schemas.openxmlformats.org/officeDocument/2006/relationships/image" Target="../media/image37.png"/><Relationship Id="rId5"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image" Target="../media/image39.png"/><Relationship Id="rId5"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46.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41.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51.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hyperlink" Target="https://doi.org/10.48550/arXiv.1808.01560" TargetMode="External"/><Relationship Id="rId4" Type="http://schemas.openxmlformats.org/officeDocument/2006/relationships/hyperlink" Target="http://dx.doi.org/10.2139/ssrn.158268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9"/>
          <p:cNvSpPr txBox="1"/>
          <p:nvPr>
            <p:ph idx="1" type="subTitle"/>
          </p:nvPr>
        </p:nvSpPr>
        <p:spPr>
          <a:xfrm>
            <a:off x="422226" y="1371600"/>
            <a:ext cx="9144000" cy="101939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1600"/>
              <a:buNone/>
            </a:pPr>
            <a:r>
              <a:rPr lang="en-US"/>
              <a:t>December, 2023</a:t>
            </a:r>
            <a:br>
              <a:rPr lang="en-US"/>
            </a:br>
            <a:r>
              <a:rPr lang="en-US"/>
              <a:t>PREPARED BY Jijun Chi(1010253887), Yingying Liu(1008325974), Yuchen Zhang (1005693019), Ke Yao(1004883183)</a:t>
            </a:r>
            <a:endParaRPr/>
          </a:p>
        </p:txBody>
      </p:sp>
      <p:sp>
        <p:nvSpPr>
          <p:cNvPr id="272" name="Google Shape;272;p9"/>
          <p:cNvSpPr txBox="1"/>
          <p:nvPr>
            <p:ph type="title"/>
          </p:nvPr>
        </p:nvSpPr>
        <p:spPr>
          <a:xfrm>
            <a:off x="422225" y="305125"/>
            <a:ext cx="9732600" cy="879900"/>
          </a:xfrm>
          <a:prstGeom prst="rect">
            <a:avLst/>
          </a:prstGeom>
          <a:noFill/>
          <a:ln>
            <a:noFill/>
          </a:ln>
        </p:spPr>
        <p:txBody>
          <a:bodyPr anchorCtr="0" anchor="b" bIns="45700" lIns="91425" spcFirstLastPara="1" rIns="91425" wrap="square" tIns="45700">
            <a:normAutofit/>
          </a:bodyPr>
          <a:lstStyle/>
          <a:p>
            <a:pPr indent="0" lvl="0" marL="0" rtl="0" algn="l">
              <a:lnSpc>
                <a:spcPct val="120000"/>
              </a:lnSpc>
              <a:spcBef>
                <a:spcPts val="0"/>
              </a:spcBef>
              <a:spcAft>
                <a:spcPts val="0"/>
              </a:spcAft>
              <a:buClr>
                <a:srgbClr val="2487BF"/>
              </a:buClr>
              <a:buSzPts val="2700"/>
              <a:buFont typeface="Arial"/>
              <a:buNone/>
            </a:pPr>
            <a:r>
              <a:rPr lang="en-US" sz="3000">
                <a:solidFill>
                  <a:schemeClr val="dk1"/>
                </a:solidFill>
              </a:rPr>
              <a:t>Predict Stock Correlations With ARIMA+LSTM</a:t>
            </a:r>
            <a:endParaRPr sz="3500">
              <a:solidFill>
                <a:schemeClr val="dk1"/>
              </a:solidFill>
            </a:endParaRPr>
          </a:p>
        </p:txBody>
      </p:sp>
      <p:sp>
        <p:nvSpPr>
          <p:cNvPr id="273" name="Google Shape;273;p9"/>
          <p:cNvSpPr txBox="1"/>
          <p:nvPr/>
        </p:nvSpPr>
        <p:spPr>
          <a:xfrm>
            <a:off x="422225" y="3803475"/>
            <a:ext cx="8828100" cy="11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000">
                <a:solidFill>
                  <a:schemeClr val="dk2"/>
                </a:solidFill>
              </a:rPr>
              <a:t>Option 5:</a:t>
            </a:r>
            <a:endParaRPr sz="2000">
              <a:solidFill>
                <a:schemeClr val="dk2"/>
              </a:solidFill>
            </a:endParaRPr>
          </a:p>
          <a:p>
            <a:pPr indent="0" lvl="0" marL="0" rtl="0" algn="l">
              <a:spcBef>
                <a:spcPts val="0"/>
              </a:spcBef>
              <a:spcAft>
                <a:spcPts val="0"/>
              </a:spcAft>
              <a:buClr>
                <a:schemeClr val="dk1"/>
              </a:buClr>
              <a:buSzPts val="1100"/>
              <a:buFont typeface="Arial"/>
              <a:buNone/>
            </a:pPr>
            <a:r>
              <a:rPr lang="en-US" sz="2000">
                <a:solidFill>
                  <a:schemeClr val="dk2"/>
                </a:solidFill>
              </a:rPr>
              <a:t>Apply an ARIMA+LSTM model to predict stock correlations to enhance an</a:t>
            </a:r>
            <a:endParaRPr sz="2000">
              <a:solidFill>
                <a:schemeClr val="dk2"/>
              </a:solidFill>
            </a:endParaRPr>
          </a:p>
          <a:p>
            <a:pPr indent="0" lvl="0" marL="0" rtl="0" algn="l">
              <a:spcBef>
                <a:spcPts val="0"/>
              </a:spcBef>
              <a:spcAft>
                <a:spcPts val="0"/>
              </a:spcAft>
              <a:buClr>
                <a:schemeClr val="dk1"/>
              </a:buClr>
              <a:buSzPts val="1100"/>
              <a:buFont typeface="Arial"/>
              <a:buNone/>
            </a:pPr>
            <a:r>
              <a:rPr lang="en-US" sz="2000">
                <a:solidFill>
                  <a:schemeClr val="dk2"/>
                </a:solidFill>
              </a:rPr>
              <a:t>algorithmic trading system based on PCA.</a:t>
            </a:r>
            <a:endParaRPr sz="2000">
              <a:solidFill>
                <a:schemeClr val="dk2"/>
              </a:solidFill>
            </a:endParaRPr>
          </a:p>
          <a:p>
            <a:pPr indent="0" lvl="0" marL="0" rtl="0" algn="l">
              <a:spcBef>
                <a:spcPts val="0"/>
              </a:spcBef>
              <a:spcAft>
                <a:spcPts val="0"/>
              </a:spcAft>
              <a:buNone/>
            </a:pPr>
            <a:r>
              <a:t/>
            </a:r>
            <a:endParaRPr sz="20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3"/>
          <p:cNvSpPr txBox="1"/>
          <p:nvPr>
            <p:ph idx="1" type="body"/>
          </p:nvPr>
        </p:nvSpPr>
        <p:spPr>
          <a:xfrm>
            <a:off x="1234374" y="1452286"/>
            <a:ext cx="3020100" cy="4553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2"/>
              </a:buClr>
              <a:buSzPts val="2000"/>
              <a:buChar char="•"/>
            </a:pPr>
            <a:r>
              <a:rPr lang="en-US"/>
              <a:t>Input and Target</a:t>
            </a:r>
            <a:endParaRPr/>
          </a:p>
          <a:p>
            <a:pPr indent="-228600" lvl="0" marL="228600" rtl="0" algn="l">
              <a:lnSpc>
                <a:spcPct val="90000"/>
              </a:lnSpc>
              <a:spcBef>
                <a:spcPts val="1800"/>
              </a:spcBef>
              <a:spcAft>
                <a:spcPts val="0"/>
              </a:spcAft>
              <a:buClr>
                <a:schemeClr val="dk2"/>
              </a:buClr>
              <a:buSzPts val="2000"/>
              <a:buChar char="•"/>
            </a:pPr>
            <a:r>
              <a:rPr lang="en-US"/>
              <a:t>Data pre-processing</a:t>
            </a:r>
            <a:endParaRPr/>
          </a:p>
          <a:p>
            <a:pPr indent="-228600" lvl="0" marL="228600" rtl="0" algn="l">
              <a:lnSpc>
                <a:spcPct val="90000"/>
              </a:lnSpc>
              <a:spcBef>
                <a:spcPts val="1800"/>
              </a:spcBef>
              <a:spcAft>
                <a:spcPts val="0"/>
              </a:spcAft>
              <a:buClr>
                <a:schemeClr val="dk2"/>
              </a:buClr>
              <a:buSzPts val="2000"/>
              <a:buChar char="•"/>
            </a:pPr>
            <a:r>
              <a:rPr lang="en-US"/>
              <a:t>Model</a:t>
            </a:r>
            <a:endParaRPr/>
          </a:p>
          <a:p>
            <a:pPr indent="-174625" lvl="1" marL="631825" rtl="0" algn="l">
              <a:lnSpc>
                <a:spcPct val="90000"/>
              </a:lnSpc>
              <a:spcBef>
                <a:spcPts val="500"/>
              </a:spcBef>
              <a:spcAft>
                <a:spcPts val="0"/>
              </a:spcAft>
              <a:buClr>
                <a:schemeClr val="dk2"/>
              </a:buClr>
              <a:buSzPts val="1080"/>
              <a:buChar char="o"/>
            </a:pPr>
            <a:r>
              <a:rPr lang="en-US"/>
              <a:t>ARIMA</a:t>
            </a:r>
            <a:endParaRPr/>
          </a:p>
          <a:p>
            <a:pPr indent="-174625" lvl="1" marL="631825" rtl="0" algn="l">
              <a:lnSpc>
                <a:spcPct val="90000"/>
              </a:lnSpc>
              <a:spcBef>
                <a:spcPts val="500"/>
              </a:spcBef>
              <a:spcAft>
                <a:spcPts val="0"/>
              </a:spcAft>
              <a:buClr>
                <a:schemeClr val="dk2"/>
              </a:buClr>
              <a:buSzPts val="1080"/>
              <a:buChar char="o"/>
            </a:pPr>
            <a:r>
              <a:rPr lang="en-US"/>
              <a:t>LSTM</a:t>
            </a:r>
            <a:endParaRPr/>
          </a:p>
          <a:p>
            <a:pPr indent="-174625" lvl="1" marL="631825" rtl="0" algn="l">
              <a:lnSpc>
                <a:spcPct val="90000"/>
              </a:lnSpc>
              <a:spcBef>
                <a:spcPts val="500"/>
              </a:spcBef>
              <a:spcAft>
                <a:spcPts val="0"/>
              </a:spcAft>
              <a:buClr>
                <a:schemeClr val="dk2"/>
              </a:buClr>
              <a:buSzPts val="1080"/>
              <a:buChar char="o"/>
            </a:pPr>
            <a:r>
              <a:rPr lang="en-US"/>
              <a:t>PCA</a:t>
            </a:r>
            <a:endParaRPr/>
          </a:p>
          <a:p>
            <a:pPr indent="-228600" lvl="0" marL="228600" rtl="0" algn="l">
              <a:lnSpc>
                <a:spcPct val="90000"/>
              </a:lnSpc>
              <a:spcBef>
                <a:spcPts val="1800"/>
              </a:spcBef>
              <a:spcAft>
                <a:spcPts val="0"/>
              </a:spcAft>
              <a:buClr>
                <a:schemeClr val="dk2"/>
              </a:buClr>
              <a:buSzPts val="2000"/>
              <a:buChar char="•"/>
            </a:pPr>
            <a:r>
              <a:rPr lang="en-US"/>
              <a:t>Parameters</a:t>
            </a:r>
            <a:endParaRPr/>
          </a:p>
          <a:p>
            <a:pPr indent="-174625" lvl="1" marL="631825" rtl="0" algn="l">
              <a:lnSpc>
                <a:spcPct val="90000"/>
              </a:lnSpc>
              <a:spcBef>
                <a:spcPts val="500"/>
              </a:spcBef>
              <a:spcAft>
                <a:spcPts val="0"/>
              </a:spcAft>
              <a:buClr>
                <a:schemeClr val="dk2"/>
              </a:buClr>
              <a:buSzPts val="1080"/>
              <a:buChar char="o"/>
            </a:pPr>
            <a:r>
              <a:rPr lang="en-US"/>
              <a:t>Absorption Ratio</a:t>
            </a:r>
            <a:endParaRPr/>
          </a:p>
          <a:p>
            <a:pPr indent="-174625" lvl="1" marL="631825" rtl="0" algn="l">
              <a:lnSpc>
                <a:spcPct val="90000"/>
              </a:lnSpc>
              <a:spcBef>
                <a:spcPts val="500"/>
              </a:spcBef>
              <a:spcAft>
                <a:spcPts val="0"/>
              </a:spcAft>
              <a:buClr>
                <a:schemeClr val="dk2"/>
              </a:buClr>
              <a:buSzPts val="1080"/>
              <a:buChar char="o"/>
            </a:pPr>
            <a:r>
              <a:rPr lang="en-US"/>
              <a:t>Covalent Matrix</a:t>
            </a:r>
            <a:endParaRPr/>
          </a:p>
          <a:p>
            <a:pPr indent="-174625" lvl="1" marL="631825" rtl="0" algn="l">
              <a:lnSpc>
                <a:spcPct val="90000"/>
              </a:lnSpc>
              <a:spcBef>
                <a:spcPts val="500"/>
              </a:spcBef>
              <a:spcAft>
                <a:spcPts val="0"/>
              </a:spcAft>
              <a:buClr>
                <a:schemeClr val="dk2"/>
              </a:buClr>
              <a:buSzPts val="1080"/>
              <a:buChar char="o"/>
            </a:pPr>
            <a:r>
              <a:rPr lang="en-US"/>
              <a:t>Absorption Ratio Delta</a:t>
            </a:r>
            <a:endParaRPr/>
          </a:p>
        </p:txBody>
      </p:sp>
      <p:sp>
        <p:nvSpPr>
          <p:cNvPr id="280" name="Google Shape;280;p13"/>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81" name="Google Shape;281;p13"/>
          <p:cNvSpPr txBox="1"/>
          <p:nvPr>
            <p:ph idx="3" type="body"/>
          </p:nvPr>
        </p:nvSpPr>
        <p:spPr>
          <a:xfrm>
            <a:off x="6095998" y="1452286"/>
            <a:ext cx="3020100" cy="4553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2"/>
              </a:buClr>
              <a:buSzPts val="2000"/>
              <a:buChar char="•"/>
            </a:pPr>
            <a:r>
              <a:rPr lang="en-US"/>
              <a:t>Result</a:t>
            </a:r>
            <a:endParaRPr/>
          </a:p>
          <a:p>
            <a:pPr indent="-228600" lvl="0" marL="228600" rtl="0" algn="l">
              <a:lnSpc>
                <a:spcPct val="90000"/>
              </a:lnSpc>
              <a:spcBef>
                <a:spcPts val="1800"/>
              </a:spcBef>
              <a:spcAft>
                <a:spcPts val="0"/>
              </a:spcAft>
              <a:buClr>
                <a:schemeClr val="dk2"/>
              </a:buClr>
              <a:buSzPts val="2000"/>
              <a:buChar char="•"/>
            </a:pPr>
            <a:r>
              <a:rPr lang="en-US"/>
              <a:t>Improvements</a:t>
            </a:r>
            <a:endParaRPr/>
          </a:p>
          <a:p>
            <a:pPr indent="-228600" lvl="0" marL="228600" rtl="0" algn="l">
              <a:lnSpc>
                <a:spcPct val="90000"/>
              </a:lnSpc>
              <a:spcBef>
                <a:spcPts val="1800"/>
              </a:spcBef>
              <a:spcAft>
                <a:spcPts val="0"/>
              </a:spcAft>
              <a:buClr>
                <a:schemeClr val="dk2"/>
              </a:buClr>
              <a:buSzPts val="2000"/>
              <a:buChar char="•"/>
            </a:pPr>
            <a:r>
              <a:rPr lang="en-US"/>
              <a:t>Reference</a:t>
            </a:r>
            <a:endParaRPr/>
          </a:p>
          <a:p>
            <a:pPr indent="0" lvl="0" marL="0" rtl="0" algn="l">
              <a:lnSpc>
                <a:spcPct val="90000"/>
              </a:lnSpc>
              <a:spcBef>
                <a:spcPts val="500"/>
              </a:spcBef>
              <a:spcAft>
                <a:spcPts val="0"/>
              </a:spcAft>
              <a:buNone/>
            </a:pPr>
            <a:r>
              <a:t/>
            </a:r>
            <a:endParaRPr/>
          </a:p>
        </p:txBody>
      </p:sp>
      <p:sp>
        <p:nvSpPr>
          <p:cNvPr id="282" name="Google Shape;282;p13"/>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Arial"/>
              <a:buNone/>
            </a:pPr>
            <a:r>
              <a:rPr lang="en-US"/>
              <a:t>AGENDA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5"/>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Arial"/>
              <a:buNone/>
            </a:pPr>
            <a:r>
              <a:rPr lang="en-US"/>
              <a:t>Abstraction</a:t>
            </a:r>
            <a:endParaRPr/>
          </a:p>
        </p:txBody>
      </p:sp>
      <p:sp>
        <p:nvSpPr>
          <p:cNvPr id="288" name="Google Shape;288;p15"/>
          <p:cNvSpPr txBox="1"/>
          <p:nvPr>
            <p:ph idx="1" type="body"/>
          </p:nvPr>
        </p:nvSpPr>
        <p:spPr>
          <a:xfrm>
            <a:off x="422225" y="1452275"/>
            <a:ext cx="10665000" cy="45315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100000"/>
              </a:lnSpc>
              <a:spcBef>
                <a:spcPts val="1800"/>
              </a:spcBef>
              <a:spcAft>
                <a:spcPts val="0"/>
              </a:spcAft>
              <a:buSzPts val="1800"/>
              <a:buChar char="•"/>
            </a:pPr>
            <a:r>
              <a:rPr lang="en-US"/>
              <a:t>With the existing algorithm trading system of PCA, we replace one of the data set (variable) called absorption ratio with our results from improved and advance ARIMA+LSTM model. ARIMA, as Autoregressive Integrated Moving Average, is a decent time series prediction model for linear system. And the LSTM, as Long Short-Term Memory, is designed to find the nonlinear parameters in the data set. By combining both model, the linear and nonlinear part of the data trend are conclude and estimate with better precision and performance.</a:t>
            </a:r>
            <a:endParaRPr/>
          </a:p>
          <a:p>
            <a:pPr indent="0" lvl="0" marL="457200" rtl="0" algn="l">
              <a:lnSpc>
                <a:spcPct val="100000"/>
              </a:lnSpc>
              <a:spcBef>
                <a:spcPts val="1800"/>
              </a:spcBef>
              <a:spcAft>
                <a:spcPts val="0"/>
              </a:spcAft>
              <a:buNone/>
            </a:pPr>
            <a:r>
              <a:t/>
            </a:r>
            <a:endParaRPr/>
          </a:p>
          <a:p>
            <a:pPr indent="-342900" lvl="0" marL="457200" rtl="0" algn="l">
              <a:lnSpc>
                <a:spcPct val="100000"/>
              </a:lnSpc>
              <a:spcBef>
                <a:spcPts val="1800"/>
              </a:spcBef>
              <a:spcAft>
                <a:spcPts val="0"/>
              </a:spcAft>
              <a:buSzPts val="1800"/>
              <a:buChar char="•"/>
            </a:pPr>
            <a:r>
              <a:rPr lang="en-US"/>
              <a:t>Stock market, as a typical example of chaos theory, is a proper target for our project. With its property of highly unpredictable and volatile, an algorithm trading system have faster responsible time, multi-task process, and actions that absolutely match the certain logic. But the fact is there are too many parameters and indicators that can </a:t>
            </a:r>
            <a:r>
              <a:rPr lang="en-US"/>
              <a:t>affect</a:t>
            </a:r>
            <a:r>
              <a:rPr lang="en-US"/>
              <a:t> the stock price. Our trading system cannot and will not perform as we expected to predict the stock market. But we do improved some of the xxx to better “predict” the future.</a:t>
            </a:r>
            <a:endParaRPr/>
          </a:p>
        </p:txBody>
      </p:sp>
      <p:sp>
        <p:nvSpPr>
          <p:cNvPr id="289" name="Google Shape;289;p15"/>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6"/>
          <p:cNvSpPr txBox="1"/>
          <p:nvPr>
            <p:ph idx="2" type="body"/>
          </p:nvPr>
        </p:nvSpPr>
        <p:spPr>
          <a:xfrm>
            <a:off x="738025" y="1919252"/>
            <a:ext cx="9510300" cy="3019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800"/>
              </a:spcBef>
              <a:spcAft>
                <a:spcPts val="0"/>
              </a:spcAft>
              <a:buClr>
                <a:schemeClr val="dk2"/>
              </a:buClr>
              <a:buSzPts val="2000"/>
              <a:buChar char="•"/>
            </a:pPr>
            <a:r>
              <a:rPr lang="en-US"/>
              <a:t>20industries_ETF_prc_UNSTACKED</a:t>
            </a:r>
            <a:endParaRPr/>
          </a:p>
          <a:p>
            <a:pPr indent="0" lvl="0" marL="228600" rtl="0" algn="l">
              <a:lnSpc>
                <a:spcPct val="90000"/>
              </a:lnSpc>
              <a:spcBef>
                <a:spcPts val="1800"/>
              </a:spcBef>
              <a:spcAft>
                <a:spcPts val="0"/>
              </a:spcAft>
              <a:buNone/>
            </a:pPr>
            <a:r>
              <a:rPr lang="en-US"/>
              <a:t>	Including daily prices of ETFs of 20 different industries from 2007 to 2019 (IYW,IYJ,IBB,IGV,IXP,IYT,VNQ,PBS,PBJ,KCE,KIE,KBE,XSD,ITB,IT</a:t>
            </a:r>
            <a:r>
              <a:rPr lang="en-US"/>
              <a:t>A,</a:t>
            </a:r>
            <a:r>
              <a:rPr lang="en-US"/>
              <a:t>IHI,IHF,IHE,IEZ, and FDN)</a:t>
            </a:r>
            <a:endParaRPr/>
          </a:p>
          <a:p>
            <a:pPr indent="-215900" lvl="0" marL="228600" rtl="0" algn="l">
              <a:lnSpc>
                <a:spcPct val="90000"/>
              </a:lnSpc>
              <a:spcBef>
                <a:spcPts val="1800"/>
              </a:spcBef>
              <a:spcAft>
                <a:spcPts val="0"/>
              </a:spcAft>
              <a:buSzPts val="1800"/>
              <a:buChar char="•"/>
            </a:pPr>
            <a:r>
              <a:rPr lang="en-US"/>
              <a:t>AGG_VTI_UNSTACKED_adjusted_returns</a:t>
            </a:r>
            <a:endParaRPr/>
          </a:p>
          <a:p>
            <a:pPr indent="0" lvl="0" marL="228600" rtl="0" algn="l">
              <a:lnSpc>
                <a:spcPct val="90000"/>
              </a:lnSpc>
              <a:spcBef>
                <a:spcPts val="1800"/>
              </a:spcBef>
              <a:spcAft>
                <a:spcPts val="0"/>
              </a:spcAft>
              <a:buNone/>
            </a:pPr>
            <a:r>
              <a:rPr lang="en-US"/>
              <a:t>	Test data for different trading strategy performance.</a:t>
            </a:r>
            <a:endParaRPr/>
          </a:p>
          <a:p>
            <a:pPr indent="228600" lvl="0" marL="228600" rtl="0" algn="l">
              <a:lnSpc>
                <a:spcPct val="90000"/>
              </a:lnSpc>
              <a:spcBef>
                <a:spcPts val="1800"/>
              </a:spcBef>
              <a:spcAft>
                <a:spcPts val="0"/>
              </a:spcAft>
              <a:buNone/>
            </a:pPr>
            <a:r>
              <a:rPr lang="en-US"/>
              <a:t>VTI as Equity and AGG as Fixed Income assets</a:t>
            </a:r>
            <a:endParaRPr/>
          </a:p>
        </p:txBody>
      </p:sp>
      <p:sp>
        <p:nvSpPr>
          <p:cNvPr id="295" name="Google Shape;295;p16"/>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96" name="Google Shape;296;p16"/>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Arial"/>
              <a:buNone/>
            </a:pPr>
            <a:r>
              <a:rPr lang="en-US"/>
              <a:t>Input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2a76e504a22_0_155"/>
          <p:cNvSpPr txBox="1"/>
          <p:nvPr>
            <p:ph idx="2" type="body"/>
          </p:nvPr>
        </p:nvSpPr>
        <p:spPr>
          <a:xfrm>
            <a:off x="422225" y="1344698"/>
            <a:ext cx="9510300" cy="4664400"/>
          </a:xfrm>
          <a:prstGeom prst="rect">
            <a:avLst/>
          </a:prstGeom>
        </p:spPr>
        <p:txBody>
          <a:bodyPr anchorCtr="0" anchor="t" bIns="45700" lIns="91425" spcFirstLastPara="1" rIns="91425" wrap="square" tIns="45700">
            <a:normAutofit lnSpcReduction="10000"/>
          </a:bodyPr>
          <a:lstStyle/>
          <a:p>
            <a:pPr indent="-342900" lvl="0" marL="457200" rtl="0" algn="l">
              <a:spcBef>
                <a:spcPts val="1800"/>
              </a:spcBef>
              <a:spcAft>
                <a:spcPts val="0"/>
              </a:spcAft>
              <a:buSzPts val="1800"/>
              <a:buChar char="•"/>
            </a:pPr>
            <a:r>
              <a:rPr lang="en-US"/>
              <a:t>Annual return</a:t>
            </a:r>
            <a:endParaRPr/>
          </a:p>
          <a:p>
            <a:pPr indent="0" lvl="0" marL="457200" rtl="0" algn="l">
              <a:spcBef>
                <a:spcPts val="1800"/>
              </a:spcBef>
              <a:spcAft>
                <a:spcPts val="0"/>
              </a:spcAft>
              <a:buNone/>
            </a:pPr>
            <a:r>
              <a:rPr lang="en-US"/>
              <a:t>This target specifies the percentage of profit through the year</a:t>
            </a:r>
            <a:endParaRPr/>
          </a:p>
          <a:p>
            <a:pPr indent="-342900" lvl="0" marL="457200" rtl="0" algn="l">
              <a:spcBef>
                <a:spcPts val="1800"/>
              </a:spcBef>
              <a:spcAft>
                <a:spcPts val="0"/>
              </a:spcAft>
              <a:buSzPts val="1800"/>
              <a:buChar char="•"/>
            </a:pPr>
            <a:r>
              <a:rPr lang="en-US"/>
              <a:t>Annual </a:t>
            </a:r>
            <a:r>
              <a:rPr lang="en-US"/>
              <a:t>volatility</a:t>
            </a:r>
            <a:endParaRPr/>
          </a:p>
          <a:p>
            <a:pPr indent="0" lvl="0" marL="0" rtl="0" algn="l">
              <a:spcBef>
                <a:spcPts val="1800"/>
              </a:spcBef>
              <a:spcAft>
                <a:spcPts val="0"/>
              </a:spcAft>
              <a:buNone/>
            </a:pPr>
            <a:r>
              <a:rPr lang="en-US"/>
              <a:t>	This target specifies the risk of the investment. Higher volatility means </a:t>
            </a:r>
            <a:r>
              <a:rPr lang="en-US"/>
              <a:t>greater the risk is. </a:t>
            </a:r>
            <a:endParaRPr/>
          </a:p>
          <a:p>
            <a:pPr indent="-342900" lvl="0" marL="457200" rtl="0" algn="l">
              <a:spcBef>
                <a:spcPts val="1800"/>
              </a:spcBef>
              <a:spcAft>
                <a:spcPts val="0"/>
              </a:spcAft>
              <a:buSzPts val="1800"/>
              <a:buChar char="•"/>
            </a:pPr>
            <a:r>
              <a:rPr lang="en-US"/>
              <a:t>Average number of trades per year</a:t>
            </a:r>
            <a:endParaRPr/>
          </a:p>
          <a:p>
            <a:pPr indent="0" lvl="0" marL="457200" rtl="0" algn="l">
              <a:spcBef>
                <a:spcPts val="1800"/>
              </a:spcBef>
              <a:spcAft>
                <a:spcPts val="0"/>
              </a:spcAft>
              <a:buNone/>
            </a:pPr>
            <a:r>
              <a:rPr lang="en-US"/>
              <a:t>This target specifies the frequency of trading. As in stock market, the trading itself would have the brokerage commission. The less trades the better.</a:t>
            </a:r>
            <a:endParaRPr/>
          </a:p>
          <a:p>
            <a:pPr indent="-342900" lvl="0" marL="457200" rtl="0" algn="l">
              <a:spcBef>
                <a:spcPts val="1800"/>
              </a:spcBef>
              <a:spcAft>
                <a:spcPts val="0"/>
              </a:spcAft>
              <a:buSzPts val="1800"/>
              <a:buChar char="•"/>
            </a:pPr>
            <a:r>
              <a:rPr lang="en-US"/>
              <a:t>Sharpe Ratio</a:t>
            </a:r>
            <a:endParaRPr/>
          </a:p>
          <a:p>
            <a:pPr indent="0" lvl="0" marL="457200" rtl="0" algn="l">
              <a:spcBef>
                <a:spcPts val="1800"/>
              </a:spcBef>
              <a:spcAft>
                <a:spcPts val="0"/>
              </a:spcAft>
              <a:buNone/>
            </a:pPr>
            <a:r>
              <a:rPr lang="en-US"/>
              <a:t>This target compares the return of an investment with its risk. It represents the additional amount of return that an investor receives per unit of increase in risk.</a:t>
            </a:r>
            <a:endParaRPr/>
          </a:p>
        </p:txBody>
      </p:sp>
      <p:sp>
        <p:nvSpPr>
          <p:cNvPr id="303" name="Google Shape;303;g2a76e504a22_0_155"/>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304" name="Google Shape;304;g2a76e504a22_0_155"/>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Target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2640eb298e4_0_2"/>
          <p:cNvSpPr txBox="1"/>
          <p:nvPr>
            <p:ph idx="1" type="body"/>
          </p:nvPr>
        </p:nvSpPr>
        <p:spPr>
          <a:xfrm>
            <a:off x="422225" y="912038"/>
            <a:ext cx="4044300" cy="468900"/>
          </a:xfrm>
          <a:prstGeom prst="rect">
            <a:avLst/>
          </a:prstGeom>
        </p:spPr>
        <p:txBody>
          <a:bodyPr anchorCtr="0" anchor="ctr" bIns="45700" lIns="91425" spcFirstLastPara="1" rIns="91425" wrap="square" tIns="45700">
            <a:normAutofit/>
          </a:bodyPr>
          <a:lstStyle/>
          <a:p>
            <a:pPr indent="0" lvl="0" marL="0" rtl="0" algn="l">
              <a:spcBef>
                <a:spcPts val="1800"/>
              </a:spcBef>
              <a:spcAft>
                <a:spcPts val="0"/>
              </a:spcAft>
              <a:buNone/>
            </a:pPr>
            <a:r>
              <a:rPr lang="en-US"/>
              <a:t>Create Residuals For ARIMA</a:t>
            </a:r>
            <a:endParaRPr/>
          </a:p>
        </p:txBody>
      </p:sp>
      <p:sp>
        <p:nvSpPr>
          <p:cNvPr id="311" name="Google Shape;311;g2640eb298e4_0_2"/>
          <p:cNvSpPr txBox="1"/>
          <p:nvPr>
            <p:ph idx="2" type="body"/>
          </p:nvPr>
        </p:nvSpPr>
        <p:spPr>
          <a:xfrm>
            <a:off x="422226" y="1883885"/>
            <a:ext cx="9510300" cy="40143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t/>
            </a:r>
            <a:endParaRPr/>
          </a:p>
          <a:p>
            <a:pPr indent="0" lvl="0" marL="0" rtl="0" algn="l">
              <a:spcBef>
                <a:spcPts val="1800"/>
              </a:spcBef>
              <a:spcAft>
                <a:spcPts val="0"/>
              </a:spcAft>
              <a:buNone/>
            </a:pPr>
            <a:r>
              <a:t/>
            </a:r>
            <a:endParaRPr/>
          </a:p>
        </p:txBody>
      </p:sp>
      <p:sp>
        <p:nvSpPr>
          <p:cNvPr id="312" name="Google Shape;312;g2640eb298e4_0_2"/>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313" name="Google Shape;313;g2640eb298e4_0_2"/>
          <p:cNvSpPr txBox="1"/>
          <p:nvPr>
            <p:ph type="title"/>
          </p:nvPr>
        </p:nvSpPr>
        <p:spPr>
          <a:xfrm>
            <a:off x="422226" y="305135"/>
            <a:ext cx="9510300" cy="879900"/>
          </a:xfrm>
          <a:prstGeom prst="rect">
            <a:avLst/>
          </a:prstGeom>
        </p:spPr>
        <p:txBody>
          <a:bodyPr anchorCtr="0" anchor="b" bIns="45700" lIns="91425" spcFirstLastPara="1" rIns="91425" wrap="square" tIns="45700">
            <a:normAutofit fontScale="90000"/>
          </a:bodyPr>
          <a:lstStyle/>
          <a:p>
            <a:pPr indent="0" lvl="0" marL="0" rtl="0" algn="l">
              <a:spcBef>
                <a:spcPts val="0"/>
              </a:spcBef>
              <a:spcAft>
                <a:spcPts val="0"/>
              </a:spcAft>
              <a:buNone/>
            </a:pPr>
            <a:r>
              <a:rPr lang="en-US"/>
              <a:t>Input Processing</a:t>
            </a:r>
            <a:endParaRPr/>
          </a:p>
          <a:p>
            <a:pPr indent="0" lvl="0" marL="0" rtl="0" algn="l">
              <a:spcBef>
                <a:spcPts val="0"/>
              </a:spcBef>
              <a:spcAft>
                <a:spcPts val="0"/>
              </a:spcAft>
              <a:buNone/>
            </a:pPr>
            <a:r>
              <a:t/>
            </a:r>
            <a:endParaRPr/>
          </a:p>
        </p:txBody>
      </p:sp>
      <p:pic>
        <p:nvPicPr>
          <p:cNvPr id="314" name="Google Shape;314;g2640eb298e4_0_2"/>
          <p:cNvPicPr preferRelativeResize="0"/>
          <p:nvPr/>
        </p:nvPicPr>
        <p:blipFill>
          <a:blip r:embed="rId3">
            <a:alphaModFix/>
          </a:blip>
          <a:stretch>
            <a:fillRect/>
          </a:stretch>
        </p:blipFill>
        <p:spPr>
          <a:xfrm>
            <a:off x="7747400" y="4269800"/>
            <a:ext cx="4044300" cy="1825045"/>
          </a:xfrm>
          <a:prstGeom prst="rect">
            <a:avLst/>
          </a:prstGeom>
          <a:noFill/>
          <a:ln>
            <a:noFill/>
          </a:ln>
        </p:spPr>
      </p:pic>
      <p:sp>
        <p:nvSpPr>
          <p:cNvPr id="315" name="Google Shape;315;g2640eb298e4_0_2"/>
          <p:cNvSpPr txBox="1"/>
          <p:nvPr>
            <p:ph idx="1" type="body"/>
          </p:nvPr>
        </p:nvSpPr>
        <p:spPr>
          <a:xfrm>
            <a:off x="422225" y="780375"/>
            <a:ext cx="6045900" cy="2830800"/>
          </a:xfrm>
          <a:prstGeom prst="rect">
            <a:avLst/>
          </a:prstGeom>
        </p:spPr>
        <p:txBody>
          <a:bodyPr anchorCtr="0" anchor="ctr" bIns="45700" lIns="91425" spcFirstLastPara="1" rIns="91425" wrap="square" tIns="45700">
            <a:noAutofit/>
          </a:bodyPr>
          <a:lstStyle/>
          <a:p>
            <a:pPr indent="0" lvl="0" marL="0" rtl="0" algn="l">
              <a:spcBef>
                <a:spcPts val="1800"/>
              </a:spcBef>
              <a:spcAft>
                <a:spcPts val="0"/>
              </a:spcAft>
              <a:buNone/>
            </a:pPr>
            <a:r>
              <a:rPr b="0" lang="en-US" sz="2100">
                <a:solidFill>
                  <a:schemeClr val="dk1"/>
                </a:solidFill>
                <a:highlight>
                  <a:schemeClr val="lt1"/>
                </a:highlight>
              </a:rPr>
              <a:t>We process time-series stock price data, calculates rolling correlations between pairs of assets, and organizes the results into a DataFrame for further analysis. The rolling correlations are sampled at regular intervals to create a structured data matrix.</a:t>
            </a:r>
            <a:endParaRPr sz="2100">
              <a:solidFill>
                <a:schemeClr val="dk1"/>
              </a:solidFill>
              <a:highlight>
                <a:schemeClr val="lt1"/>
              </a:highlight>
            </a:endParaRPr>
          </a:p>
        </p:txBody>
      </p:sp>
      <p:sp>
        <p:nvSpPr>
          <p:cNvPr id="316" name="Google Shape;316;g2640eb298e4_0_2"/>
          <p:cNvSpPr txBox="1"/>
          <p:nvPr>
            <p:ph idx="1" type="body"/>
          </p:nvPr>
        </p:nvSpPr>
        <p:spPr>
          <a:xfrm>
            <a:off x="422225" y="3429000"/>
            <a:ext cx="7132800" cy="2377800"/>
          </a:xfrm>
          <a:prstGeom prst="rect">
            <a:avLst/>
          </a:prstGeom>
        </p:spPr>
        <p:txBody>
          <a:bodyPr anchorCtr="0" anchor="ctr" bIns="45700" lIns="91425" spcFirstLastPara="1" rIns="91425" wrap="square" tIns="45700">
            <a:noAutofit/>
          </a:bodyPr>
          <a:lstStyle/>
          <a:p>
            <a:pPr indent="0" lvl="0" marL="0" rtl="0" algn="l">
              <a:spcBef>
                <a:spcPts val="1800"/>
              </a:spcBef>
              <a:spcAft>
                <a:spcPts val="0"/>
              </a:spcAft>
              <a:buNone/>
            </a:pPr>
            <a:r>
              <a:rPr lang="en-US"/>
              <a:t>Normalise Daily Returns For absorb Ratio</a:t>
            </a:r>
            <a:endParaRPr b="0" sz="2100">
              <a:solidFill>
                <a:schemeClr val="dk1"/>
              </a:solidFill>
              <a:highlight>
                <a:schemeClr val="lt1"/>
              </a:highlight>
            </a:endParaRPr>
          </a:p>
          <a:p>
            <a:pPr indent="0" lvl="0" marL="0" rtl="0" algn="l">
              <a:spcBef>
                <a:spcPts val="1800"/>
              </a:spcBef>
              <a:spcAft>
                <a:spcPts val="0"/>
              </a:spcAft>
              <a:buNone/>
            </a:pPr>
            <a:r>
              <a:rPr b="0" lang="en-US" sz="2100">
                <a:solidFill>
                  <a:schemeClr val="dk1"/>
                </a:solidFill>
                <a:highlight>
                  <a:schemeClr val="lt1"/>
                </a:highlight>
              </a:rPr>
              <a:t>The function takes a DataFrame of returns data, calculates the mean and standard deviation for each column (asset), and then normalizes the data by subtracting the mean and dividing by the standard deviation. The output is a DataFrame with normalized returns. </a:t>
            </a:r>
            <a:endParaRPr sz="2100">
              <a:solidFill>
                <a:schemeClr val="dk1"/>
              </a:solidFill>
              <a:highlight>
                <a:schemeClr val="lt1"/>
              </a:highlight>
            </a:endParaRPr>
          </a:p>
        </p:txBody>
      </p:sp>
      <p:pic>
        <p:nvPicPr>
          <p:cNvPr id="317" name="Google Shape;317;g2640eb298e4_0_2"/>
          <p:cNvPicPr preferRelativeResize="0"/>
          <p:nvPr/>
        </p:nvPicPr>
        <p:blipFill>
          <a:blip r:embed="rId4">
            <a:alphaModFix/>
          </a:blip>
          <a:stretch>
            <a:fillRect/>
          </a:stretch>
        </p:blipFill>
        <p:spPr>
          <a:xfrm>
            <a:off x="6853650" y="1185025"/>
            <a:ext cx="5069250" cy="1681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8"/>
          <p:cNvSpPr txBox="1"/>
          <p:nvPr>
            <p:ph idx="1" type="body"/>
          </p:nvPr>
        </p:nvSpPr>
        <p:spPr>
          <a:xfrm>
            <a:off x="422225" y="1371600"/>
            <a:ext cx="4666045" cy="4206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2000"/>
              <a:buNone/>
            </a:pPr>
            <a:r>
              <a:rPr lang="en-US"/>
              <a:t>ARIMA</a:t>
            </a:r>
            <a:endParaRPr/>
          </a:p>
        </p:txBody>
      </p:sp>
      <p:sp>
        <p:nvSpPr>
          <p:cNvPr id="323" name="Google Shape;323;p18"/>
          <p:cNvSpPr txBox="1"/>
          <p:nvPr>
            <p:ph idx="2" type="body"/>
          </p:nvPr>
        </p:nvSpPr>
        <p:spPr>
          <a:xfrm>
            <a:off x="422225" y="1978836"/>
            <a:ext cx="4666045" cy="403007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800"/>
              </a:spcBef>
              <a:spcAft>
                <a:spcPts val="0"/>
              </a:spcAft>
              <a:buClr>
                <a:schemeClr val="dk2"/>
              </a:buClr>
              <a:buSzPts val="2000"/>
              <a:buChar char="•"/>
            </a:pPr>
            <a:r>
              <a:rPr lang="en-US"/>
              <a:t>The Autoregressive Integrated Moving Average model, known as ARIMA,  is one of the traditional statistical models for time series prediction</a:t>
            </a:r>
            <a:endParaRPr/>
          </a:p>
          <a:p>
            <a:pPr indent="-215900" lvl="0" marL="228600" rtl="0" algn="l">
              <a:lnSpc>
                <a:spcPct val="90000"/>
              </a:lnSpc>
              <a:spcBef>
                <a:spcPts val="1800"/>
              </a:spcBef>
              <a:spcAft>
                <a:spcPts val="0"/>
              </a:spcAft>
              <a:buSzPts val="1800"/>
              <a:buChar char="•"/>
            </a:pPr>
            <a:r>
              <a:rPr lang="en-US"/>
              <a:t>Linear regression model for tracking linear trends in stationary time series data</a:t>
            </a:r>
            <a:endParaRPr/>
          </a:p>
          <a:p>
            <a:pPr indent="-215900" lvl="0" marL="228600" rtl="0" algn="l">
              <a:lnSpc>
                <a:spcPct val="90000"/>
              </a:lnSpc>
              <a:spcBef>
                <a:spcPts val="1800"/>
              </a:spcBef>
              <a:spcAft>
                <a:spcPts val="0"/>
              </a:spcAft>
              <a:buSzPts val="1800"/>
              <a:buChar char="•"/>
            </a:pPr>
            <a:r>
              <a:rPr lang="en-US"/>
              <a:t>The autoregressive (AR) part of ARIMA indicates that the evolving variable of interest is regressed on its own lagged values</a:t>
            </a:r>
            <a:endParaRPr/>
          </a:p>
        </p:txBody>
      </p:sp>
      <p:sp>
        <p:nvSpPr>
          <p:cNvPr id="324" name="Google Shape;324;p18"/>
          <p:cNvSpPr txBox="1"/>
          <p:nvPr>
            <p:ph idx="3" type="body"/>
          </p:nvPr>
        </p:nvSpPr>
        <p:spPr>
          <a:xfrm>
            <a:off x="5266425" y="1371600"/>
            <a:ext cx="4666045" cy="4206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2000"/>
              <a:buNone/>
            </a:pPr>
            <a:r>
              <a:rPr lang="en-US"/>
              <a:t>LSTM</a:t>
            </a:r>
            <a:endParaRPr/>
          </a:p>
        </p:txBody>
      </p:sp>
      <p:sp>
        <p:nvSpPr>
          <p:cNvPr id="325" name="Google Shape;325;p18"/>
          <p:cNvSpPr txBox="1"/>
          <p:nvPr>
            <p:ph idx="4" type="body"/>
          </p:nvPr>
        </p:nvSpPr>
        <p:spPr>
          <a:xfrm>
            <a:off x="5266425" y="1978836"/>
            <a:ext cx="4666045" cy="4030078"/>
          </a:xfrm>
          <a:prstGeom prst="rect">
            <a:avLst/>
          </a:prstGeom>
          <a:noFill/>
          <a:ln>
            <a:noFill/>
          </a:ln>
        </p:spPr>
        <p:txBody>
          <a:bodyPr anchorCtr="0" anchor="t" bIns="45700" lIns="91425" spcFirstLastPara="1" rIns="91425" wrap="square" tIns="45700">
            <a:normAutofit/>
          </a:bodyPr>
          <a:lstStyle/>
          <a:p>
            <a:pPr indent="-241300" lvl="0" marL="228600" rtl="0" algn="l">
              <a:spcBef>
                <a:spcPts val="0"/>
              </a:spcBef>
              <a:spcAft>
                <a:spcPts val="0"/>
              </a:spcAft>
              <a:buSzPts val="2000"/>
              <a:buChar char="•"/>
            </a:pPr>
            <a:r>
              <a:rPr lang="en-US"/>
              <a:t> The Long Short-Term Memory model, known as LSTM, is a model that </a:t>
            </a:r>
            <a:r>
              <a:rPr lang="en-US"/>
              <a:t>detecting</a:t>
            </a:r>
            <a:r>
              <a:rPr lang="en-US"/>
              <a:t> nonlinear trends in the dataset</a:t>
            </a:r>
            <a:endParaRPr/>
          </a:p>
          <a:p>
            <a:pPr indent="-228600" lvl="0" marL="228600" rtl="0" algn="l">
              <a:lnSpc>
                <a:spcPct val="90000"/>
              </a:lnSpc>
              <a:spcBef>
                <a:spcPts val="1800"/>
              </a:spcBef>
              <a:spcAft>
                <a:spcPts val="0"/>
              </a:spcAft>
              <a:buClr>
                <a:schemeClr val="dk2"/>
              </a:buClr>
              <a:buSzPts val="2000"/>
              <a:buChar char="•"/>
            </a:pPr>
            <a:r>
              <a:rPr lang="en-US"/>
              <a:t>Based on Recurrent Neural Networks (RNN) and Backward Propagation Through Time (BPTT) process</a:t>
            </a:r>
            <a:endParaRPr/>
          </a:p>
          <a:p>
            <a:pPr indent="-215900" lvl="0" marL="228600" rtl="0" algn="l">
              <a:lnSpc>
                <a:spcPct val="90000"/>
              </a:lnSpc>
              <a:spcBef>
                <a:spcPts val="1800"/>
              </a:spcBef>
              <a:spcAft>
                <a:spcPts val="0"/>
              </a:spcAft>
              <a:buSzPts val="1800"/>
              <a:buChar char="•"/>
            </a:pPr>
            <a:r>
              <a:rPr lang="en-US"/>
              <a:t>A common LSTM unit usually includes 4 parts: a cell, an input gate, an output gate, and a forget gate.</a:t>
            </a:r>
            <a:endParaRPr/>
          </a:p>
        </p:txBody>
      </p:sp>
      <p:sp>
        <p:nvSpPr>
          <p:cNvPr id="326" name="Google Shape;326;p18"/>
          <p:cNvSpPr txBox="1"/>
          <p:nvPr>
            <p:ph idx="12" type="sldNum"/>
          </p:nvPr>
        </p:nvSpPr>
        <p:spPr>
          <a:xfrm>
            <a:off x="11560627" y="6319026"/>
            <a:ext cx="43698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27" name="Google Shape;327;p18"/>
          <p:cNvSpPr txBox="1"/>
          <p:nvPr>
            <p:ph type="title"/>
          </p:nvPr>
        </p:nvSpPr>
        <p:spPr>
          <a:xfrm>
            <a:off x="422226" y="305135"/>
            <a:ext cx="9510245" cy="8798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Arial"/>
              <a:buNone/>
            </a:pPr>
            <a:r>
              <a:rPr lang="en-US"/>
              <a:t>Models </a:t>
            </a:r>
            <a:r>
              <a:rPr lang="en-US"/>
              <a:t>Intro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263dfcc855e_0_56"/>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sz="2600">
                <a:solidFill>
                  <a:schemeClr val="accent1"/>
                </a:solidFill>
              </a:rPr>
              <a:t>PCA</a:t>
            </a:r>
            <a:endParaRPr sz="2600">
              <a:solidFill>
                <a:schemeClr val="accent1"/>
              </a:solidFill>
            </a:endParaRPr>
          </a:p>
        </p:txBody>
      </p:sp>
      <p:sp>
        <p:nvSpPr>
          <p:cNvPr id="334" name="Google Shape;334;g263dfcc855e_0_56"/>
          <p:cNvSpPr txBox="1"/>
          <p:nvPr>
            <p:ph idx="1" type="body"/>
          </p:nvPr>
        </p:nvSpPr>
        <p:spPr>
          <a:xfrm>
            <a:off x="422225" y="1452275"/>
            <a:ext cx="4769400" cy="45315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sz="2100">
                <a:solidFill>
                  <a:schemeClr val="dk1"/>
                </a:solidFill>
                <a:highlight>
                  <a:srgbClr val="FFFFFF"/>
                </a:highlight>
              </a:rPr>
              <a:t>The Principal component analysis, known as PCA, is specialized for </a:t>
            </a:r>
            <a:r>
              <a:rPr lang="en-US" sz="2100">
                <a:solidFill>
                  <a:schemeClr val="dk1"/>
                </a:solidFill>
                <a:highlight>
                  <a:srgbClr val="FFFFFF"/>
                </a:highlight>
              </a:rPr>
              <a:t>analysing</a:t>
            </a:r>
            <a:r>
              <a:rPr lang="en-US" sz="2100">
                <a:solidFill>
                  <a:schemeClr val="dk1"/>
                </a:solidFill>
                <a:highlight>
                  <a:srgbClr val="FFFFFF"/>
                </a:highlight>
              </a:rPr>
              <a:t> is in large data tables by means of a smaller set of “summary indices” that can be more easily visualized and analyzed. It increase the interpretability of data while preserving the maximum amount of information. Which in our model, stock price is the main focus. The strategy based on absorption ratio is applied to PCA based trading system. And finally, it gives us the annual </a:t>
            </a:r>
            <a:r>
              <a:rPr lang="en-US" sz="2100">
                <a:solidFill>
                  <a:schemeClr val="dk1"/>
                </a:solidFill>
                <a:highlight>
                  <a:srgbClr val="FFFFFF"/>
                </a:highlight>
              </a:rPr>
              <a:t>return of the specific strategy.</a:t>
            </a:r>
            <a:endParaRPr sz="2300"/>
          </a:p>
        </p:txBody>
      </p:sp>
      <p:sp>
        <p:nvSpPr>
          <p:cNvPr id="335" name="Google Shape;335;g263dfcc855e_0_56"/>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36" name="Google Shape;336;g263dfcc855e_0_56"/>
          <p:cNvPicPr preferRelativeResize="0"/>
          <p:nvPr/>
        </p:nvPicPr>
        <p:blipFill>
          <a:blip r:embed="rId3">
            <a:alphaModFix/>
          </a:blip>
          <a:stretch>
            <a:fillRect/>
          </a:stretch>
        </p:blipFill>
        <p:spPr>
          <a:xfrm>
            <a:off x="7601875" y="7861"/>
            <a:ext cx="2330650" cy="684228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2a76e504a22_0_55"/>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Parameter</a:t>
            </a:r>
            <a:endParaRPr/>
          </a:p>
        </p:txBody>
      </p:sp>
      <p:sp>
        <p:nvSpPr>
          <p:cNvPr id="343" name="Google Shape;343;g2a76e504a22_0_55"/>
          <p:cNvSpPr txBox="1"/>
          <p:nvPr>
            <p:ph idx="1" type="body"/>
          </p:nvPr>
        </p:nvSpPr>
        <p:spPr>
          <a:xfrm>
            <a:off x="422225" y="1452275"/>
            <a:ext cx="5073600" cy="4567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600">
                <a:solidFill>
                  <a:schemeClr val="accent1"/>
                </a:solidFill>
              </a:rPr>
              <a:t>ARIMA</a:t>
            </a:r>
            <a:endParaRPr/>
          </a:p>
          <a:p>
            <a:pPr indent="0" lvl="0" marL="0" rtl="0" algn="l">
              <a:spcBef>
                <a:spcPts val="1800"/>
              </a:spcBef>
              <a:spcAft>
                <a:spcPts val="0"/>
              </a:spcAft>
              <a:buNone/>
            </a:pPr>
            <a:r>
              <a:rPr lang="en-US" sz="2100">
                <a:solidFill>
                  <a:schemeClr val="dk1"/>
                </a:solidFill>
                <a:highlight>
                  <a:schemeClr val="lt1"/>
                </a:highlight>
              </a:rPr>
              <a:t>The model parameters for the ARIMA models are specified in the “orders” list. Each tuple in the list represents a set of parameters for an ARIMA model. Specifically, each tuple has three values corresponding to the AR order, Integration order, and MA order. The code then iterates over these different sets of parameters to find the best-fitting ARIMA model for each time series.</a:t>
            </a:r>
            <a:endParaRPr sz="2100">
              <a:solidFill>
                <a:schemeClr val="dk1"/>
              </a:solidFill>
              <a:highlight>
                <a:schemeClr val="lt1"/>
              </a:highlight>
            </a:endParaRPr>
          </a:p>
        </p:txBody>
      </p:sp>
      <p:sp>
        <p:nvSpPr>
          <p:cNvPr id="344" name="Google Shape;344;g2a76e504a22_0_55"/>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45" name="Google Shape;345;g2a76e504a22_0_55"/>
          <p:cNvPicPr preferRelativeResize="0"/>
          <p:nvPr/>
        </p:nvPicPr>
        <p:blipFill>
          <a:blip r:embed="rId3">
            <a:alphaModFix/>
          </a:blip>
          <a:stretch>
            <a:fillRect/>
          </a:stretch>
        </p:blipFill>
        <p:spPr>
          <a:xfrm>
            <a:off x="5495825" y="776247"/>
            <a:ext cx="5760002" cy="5305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2640eb298e4_0_24"/>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Parameter</a:t>
            </a:r>
            <a:endParaRPr/>
          </a:p>
        </p:txBody>
      </p:sp>
      <p:sp>
        <p:nvSpPr>
          <p:cNvPr id="352" name="Google Shape;352;g2640eb298e4_0_24"/>
          <p:cNvSpPr txBox="1"/>
          <p:nvPr>
            <p:ph idx="1" type="body"/>
          </p:nvPr>
        </p:nvSpPr>
        <p:spPr>
          <a:xfrm>
            <a:off x="422225" y="1262225"/>
            <a:ext cx="10094400" cy="4567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600">
                <a:solidFill>
                  <a:schemeClr val="accent1"/>
                </a:solidFill>
              </a:rPr>
              <a:t>LSTM</a:t>
            </a:r>
            <a:endParaRPr/>
          </a:p>
          <a:p>
            <a:pPr indent="0" lvl="0" marL="0" rtl="0" algn="l">
              <a:spcBef>
                <a:spcPts val="1800"/>
              </a:spcBef>
              <a:spcAft>
                <a:spcPts val="0"/>
              </a:spcAft>
              <a:buNone/>
            </a:pPr>
            <a:r>
              <a:rPr lang="en-US" sz="2100">
                <a:solidFill>
                  <a:schemeClr val="dk1"/>
                </a:solidFill>
                <a:highlight>
                  <a:schemeClr val="lt1"/>
                </a:highlight>
              </a:rPr>
              <a:t>According to requirements, we use the trained model provided in the essay of </a:t>
            </a:r>
            <a:br>
              <a:rPr lang="en-US" sz="2100">
                <a:solidFill>
                  <a:schemeClr val="dk1"/>
                </a:solidFill>
                <a:highlight>
                  <a:schemeClr val="lt1"/>
                </a:highlight>
              </a:rPr>
            </a:br>
            <a:r>
              <a:rPr lang="en-US" sz="2100">
                <a:solidFill>
                  <a:schemeClr val="dk1"/>
                </a:solidFill>
                <a:highlight>
                  <a:schemeClr val="lt1"/>
                </a:highlight>
              </a:rPr>
              <a:t>“epoch247.h5”</a:t>
            </a:r>
            <a:endParaRPr sz="2100">
              <a:solidFill>
                <a:schemeClr val="dk1"/>
              </a:solidFill>
              <a:highlight>
                <a:schemeClr val="lt1"/>
              </a:highlight>
            </a:endParaRPr>
          </a:p>
          <a:p>
            <a:pPr indent="0" lvl="0" marL="0" rtl="0" algn="l">
              <a:spcBef>
                <a:spcPts val="0"/>
              </a:spcBef>
              <a:spcAft>
                <a:spcPts val="0"/>
              </a:spcAft>
              <a:buNone/>
            </a:pPr>
            <a:r>
              <a:t/>
            </a:r>
            <a:endParaRPr b="1" sz="2600">
              <a:solidFill>
                <a:schemeClr val="accent1"/>
              </a:solidFill>
            </a:endParaRPr>
          </a:p>
          <a:p>
            <a:pPr indent="0" lvl="0" marL="0" rtl="0" algn="l">
              <a:spcBef>
                <a:spcPts val="0"/>
              </a:spcBef>
              <a:spcAft>
                <a:spcPts val="0"/>
              </a:spcAft>
              <a:buNone/>
            </a:pPr>
            <a:r>
              <a:rPr b="1" lang="en-US" sz="2600">
                <a:solidFill>
                  <a:schemeClr val="accent1"/>
                </a:solidFill>
              </a:rPr>
              <a:t>PCA</a:t>
            </a:r>
            <a:endParaRPr b="1" sz="2600">
              <a:solidFill>
                <a:schemeClr val="accent1"/>
              </a:solidFill>
            </a:endParaRPr>
          </a:p>
          <a:p>
            <a:pPr indent="0" lvl="0" marL="0" rtl="0" algn="l">
              <a:spcBef>
                <a:spcPts val="1800"/>
              </a:spcBef>
              <a:spcAft>
                <a:spcPts val="0"/>
              </a:spcAft>
              <a:buNone/>
            </a:pPr>
            <a:r>
              <a:rPr lang="en-US" sz="2100">
                <a:solidFill>
                  <a:schemeClr val="dk1"/>
                </a:solidFill>
                <a:highlight>
                  <a:schemeClr val="lt1"/>
                </a:highlight>
              </a:rPr>
              <a:t>If we want to explain 0.8 variance, we find that how many components are needed</a:t>
            </a:r>
            <a:endParaRPr sz="2100">
              <a:solidFill>
                <a:schemeClr val="dk1"/>
              </a:solidFill>
              <a:highlight>
                <a:schemeClr val="lt1"/>
              </a:highlight>
            </a:endParaRPr>
          </a:p>
        </p:txBody>
      </p:sp>
      <p:sp>
        <p:nvSpPr>
          <p:cNvPr id="353" name="Google Shape;353;g2640eb298e4_0_24"/>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54" name="Google Shape;354;g2640eb298e4_0_24"/>
          <p:cNvPicPr preferRelativeResize="0"/>
          <p:nvPr/>
        </p:nvPicPr>
        <p:blipFill>
          <a:blip r:embed="rId3">
            <a:alphaModFix/>
          </a:blip>
          <a:stretch>
            <a:fillRect/>
          </a:stretch>
        </p:blipFill>
        <p:spPr>
          <a:xfrm>
            <a:off x="501400" y="3737200"/>
            <a:ext cx="9510300" cy="2282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2640eb298e4_0_34"/>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Parameter</a:t>
            </a:r>
            <a:endParaRPr/>
          </a:p>
        </p:txBody>
      </p:sp>
      <p:sp>
        <p:nvSpPr>
          <p:cNvPr id="361" name="Google Shape;361;g2640eb298e4_0_34"/>
          <p:cNvSpPr txBox="1"/>
          <p:nvPr>
            <p:ph idx="1" type="body"/>
          </p:nvPr>
        </p:nvSpPr>
        <p:spPr>
          <a:xfrm>
            <a:off x="422225" y="1262225"/>
            <a:ext cx="10094400" cy="4567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600">
                <a:solidFill>
                  <a:schemeClr val="accent1"/>
                </a:solidFill>
              </a:rPr>
              <a:t>AR Trading Strategy Model</a:t>
            </a:r>
            <a:endParaRPr/>
          </a:p>
          <a:p>
            <a:pPr indent="0" lvl="0" marL="0" rtl="0" algn="l">
              <a:lnSpc>
                <a:spcPct val="115000"/>
              </a:lnSpc>
              <a:spcBef>
                <a:spcPts val="1700"/>
              </a:spcBef>
              <a:spcAft>
                <a:spcPts val="0"/>
              </a:spcAft>
              <a:buNone/>
            </a:pPr>
            <a:r>
              <a:rPr lang="en-US" sz="2100">
                <a:solidFill>
                  <a:schemeClr val="dk1"/>
                </a:solidFill>
                <a:highlight>
                  <a:schemeClr val="lt1"/>
                </a:highlight>
              </a:rPr>
              <a:t>The function uses the ar_delta parameter to determine the portfolio weights.</a:t>
            </a:r>
            <a:endParaRPr sz="2100">
              <a:solidFill>
                <a:schemeClr val="dk1"/>
              </a:solidFill>
              <a:highlight>
                <a:schemeClr val="lt1"/>
              </a:highlight>
            </a:endParaRPr>
          </a:p>
          <a:p>
            <a:pPr indent="0" lvl="0" marL="0" rtl="0" algn="l">
              <a:lnSpc>
                <a:spcPct val="115000"/>
              </a:lnSpc>
              <a:spcBef>
                <a:spcPts val="1700"/>
              </a:spcBef>
              <a:spcAft>
                <a:spcPts val="0"/>
              </a:spcAft>
              <a:buNone/>
            </a:pPr>
            <a:r>
              <a:t/>
            </a:r>
            <a:endParaRPr sz="2100">
              <a:solidFill>
                <a:schemeClr val="dk1"/>
              </a:solidFill>
              <a:highlight>
                <a:schemeClr val="lt1"/>
              </a:highlight>
            </a:endParaRPr>
          </a:p>
          <a:p>
            <a:pPr indent="0" lvl="0" marL="0" rtl="0" algn="l">
              <a:spcBef>
                <a:spcPts val="1800"/>
              </a:spcBef>
              <a:spcAft>
                <a:spcPts val="0"/>
              </a:spcAft>
              <a:buNone/>
            </a:pPr>
            <a:r>
              <a:t/>
            </a:r>
            <a:endParaRPr/>
          </a:p>
        </p:txBody>
      </p:sp>
      <p:sp>
        <p:nvSpPr>
          <p:cNvPr id="362" name="Google Shape;362;g2640eb298e4_0_34"/>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63" name="Google Shape;363;g2640eb298e4_0_34"/>
          <p:cNvPicPr preferRelativeResize="0"/>
          <p:nvPr/>
        </p:nvPicPr>
        <p:blipFill>
          <a:blip r:embed="rId3">
            <a:alphaModFix/>
          </a:blip>
          <a:stretch>
            <a:fillRect/>
          </a:stretch>
        </p:blipFill>
        <p:spPr>
          <a:xfrm>
            <a:off x="524050" y="2421000"/>
            <a:ext cx="9408476" cy="34087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2a8092ebe27_26_7"/>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Parameter</a:t>
            </a:r>
            <a:endParaRPr/>
          </a:p>
        </p:txBody>
      </p:sp>
      <p:sp>
        <p:nvSpPr>
          <p:cNvPr id="370" name="Google Shape;370;g2a8092ebe27_26_7"/>
          <p:cNvSpPr txBox="1"/>
          <p:nvPr>
            <p:ph idx="1" type="body"/>
          </p:nvPr>
        </p:nvSpPr>
        <p:spPr>
          <a:xfrm>
            <a:off x="422225" y="1262225"/>
            <a:ext cx="10094400" cy="4567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US" sz="2600">
                <a:solidFill>
                  <a:schemeClr val="accent1"/>
                </a:solidFill>
              </a:rPr>
              <a:t>AR Trading Strategy Model</a:t>
            </a:r>
            <a:endParaRPr/>
          </a:p>
          <a:p>
            <a:pPr indent="0" lvl="0" marL="0" rtl="0" algn="l">
              <a:lnSpc>
                <a:spcPct val="115000"/>
              </a:lnSpc>
              <a:spcBef>
                <a:spcPts val="1700"/>
              </a:spcBef>
              <a:spcAft>
                <a:spcPts val="0"/>
              </a:spcAft>
              <a:buNone/>
            </a:pPr>
            <a:r>
              <a:rPr lang="en-US" sz="2100">
                <a:solidFill>
                  <a:schemeClr val="dk1"/>
                </a:solidFill>
                <a:highlight>
                  <a:schemeClr val="lt1"/>
                </a:highlight>
              </a:rPr>
              <a:t>Decision Logic:</a:t>
            </a:r>
            <a:endParaRPr sz="2100">
              <a:solidFill>
                <a:schemeClr val="dk1"/>
              </a:solidFill>
              <a:highlight>
                <a:schemeClr val="lt1"/>
              </a:highlight>
            </a:endParaRPr>
          </a:p>
          <a:p>
            <a:pPr indent="0" lvl="0" marL="0" rtl="0" algn="l">
              <a:lnSpc>
                <a:spcPct val="115000"/>
              </a:lnSpc>
              <a:spcBef>
                <a:spcPts val="1700"/>
              </a:spcBef>
              <a:spcAft>
                <a:spcPts val="0"/>
              </a:spcAft>
              <a:buClr>
                <a:schemeClr val="dk1"/>
              </a:buClr>
              <a:buSzPts val="1100"/>
              <a:buFont typeface="Arial"/>
              <a:buNone/>
            </a:pPr>
            <a:r>
              <a:rPr lang="en-US" sz="2100">
                <a:solidFill>
                  <a:schemeClr val="dk1"/>
                </a:solidFill>
                <a:highlight>
                  <a:schemeClr val="lt1"/>
                </a:highlight>
              </a:rPr>
              <a:t>If ar_delta is less than -1, the function assigns a portfolio weight of [1, 0], indicating 100% weight in Equity and 0% in Fixed Income.If ar_delta is greater than 1, the function assigns a portfolio weight of [0, 1], indicating 0% weight in Equity and 100% in Fixed Income.If ar_delta is between -1 and 1, the function assigns an equal weight of [0.5, 0.5] to both Equity and Fixed Income.</a:t>
            </a:r>
            <a:endParaRPr sz="2100">
              <a:solidFill>
                <a:schemeClr val="dk1"/>
              </a:solidFill>
              <a:highlight>
                <a:schemeClr val="lt1"/>
              </a:highlight>
            </a:endParaRPr>
          </a:p>
          <a:p>
            <a:pPr indent="0" lvl="0" marL="0" rtl="0" algn="l">
              <a:lnSpc>
                <a:spcPct val="115000"/>
              </a:lnSpc>
              <a:spcBef>
                <a:spcPts val="1700"/>
              </a:spcBef>
              <a:spcAft>
                <a:spcPts val="0"/>
              </a:spcAft>
              <a:buNone/>
            </a:pPr>
            <a:r>
              <a:t/>
            </a:r>
            <a:endParaRPr sz="2100">
              <a:solidFill>
                <a:schemeClr val="dk1"/>
              </a:solidFill>
              <a:highlight>
                <a:schemeClr val="lt1"/>
              </a:highlight>
            </a:endParaRPr>
          </a:p>
          <a:p>
            <a:pPr indent="0" lvl="0" marL="0" rtl="0" algn="l">
              <a:spcBef>
                <a:spcPts val="1800"/>
              </a:spcBef>
              <a:spcAft>
                <a:spcPts val="0"/>
              </a:spcAft>
              <a:buNone/>
            </a:pPr>
            <a:r>
              <a:t/>
            </a:r>
            <a:endParaRPr/>
          </a:p>
        </p:txBody>
      </p:sp>
      <p:sp>
        <p:nvSpPr>
          <p:cNvPr id="371" name="Google Shape;371;g2a8092ebe27_26_7"/>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2a76e504a22_0_185"/>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Train vs. Validation Error</a:t>
            </a:r>
            <a:endParaRPr/>
          </a:p>
        </p:txBody>
      </p:sp>
      <p:sp>
        <p:nvSpPr>
          <p:cNvPr id="378" name="Google Shape;378;g2a76e504a22_0_185"/>
          <p:cNvSpPr txBox="1"/>
          <p:nvPr>
            <p:ph idx="1" type="body"/>
          </p:nvPr>
        </p:nvSpPr>
        <p:spPr>
          <a:xfrm>
            <a:off x="422225" y="1452284"/>
            <a:ext cx="9510300" cy="8799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Since we didn’t train the model ourselves, the training result from the provided </a:t>
            </a:r>
            <a:r>
              <a:rPr lang="en-US"/>
              <a:t>material</a:t>
            </a:r>
            <a:r>
              <a:rPr lang="en-US"/>
              <a:t> is shown. </a:t>
            </a:r>
            <a:endParaRPr/>
          </a:p>
        </p:txBody>
      </p:sp>
      <p:sp>
        <p:nvSpPr>
          <p:cNvPr id="379" name="Google Shape;379;g2a76e504a22_0_185"/>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80" name="Google Shape;380;g2a76e504a22_0_185"/>
          <p:cNvPicPr preferRelativeResize="0"/>
          <p:nvPr/>
        </p:nvPicPr>
        <p:blipFill>
          <a:blip r:embed="rId3">
            <a:alphaModFix/>
          </a:blip>
          <a:stretch>
            <a:fillRect/>
          </a:stretch>
        </p:blipFill>
        <p:spPr>
          <a:xfrm>
            <a:off x="738050" y="2332172"/>
            <a:ext cx="10258901" cy="3477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263dfcc855e_0_18"/>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Model - ARIMA</a:t>
            </a:r>
            <a:endParaRPr/>
          </a:p>
        </p:txBody>
      </p:sp>
      <p:sp>
        <p:nvSpPr>
          <p:cNvPr id="387" name="Google Shape;387;g263dfcc855e_0_18"/>
          <p:cNvSpPr txBox="1"/>
          <p:nvPr>
            <p:ph idx="1" type="body"/>
          </p:nvPr>
        </p:nvSpPr>
        <p:spPr>
          <a:xfrm>
            <a:off x="422225" y="1452275"/>
            <a:ext cx="4859700" cy="29154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t/>
            </a:r>
            <a:endParaRPr/>
          </a:p>
          <a:p>
            <a:pPr indent="0" lvl="0" marL="0" rtl="0" algn="l">
              <a:spcBef>
                <a:spcPts val="1800"/>
              </a:spcBef>
              <a:spcAft>
                <a:spcPts val="0"/>
              </a:spcAft>
              <a:buNone/>
            </a:pPr>
            <a:r>
              <a:t/>
            </a:r>
            <a:endParaRPr/>
          </a:p>
        </p:txBody>
      </p:sp>
      <p:sp>
        <p:nvSpPr>
          <p:cNvPr id="388" name="Google Shape;388;g263dfcc855e_0_18"/>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389" name="Google Shape;389;g263dfcc855e_0_18"/>
          <p:cNvSpPr txBox="1"/>
          <p:nvPr/>
        </p:nvSpPr>
        <p:spPr>
          <a:xfrm>
            <a:off x="529475" y="1586525"/>
            <a:ext cx="10938600" cy="18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2"/>
                </a:solidFill>
              </a:rPr>
              <a:t>As for the linear part of the datasets, the calculation has been made. From the parameter we received from the input setting, we start to process the data to get two parts of data: the correlation between each pair of EFTs and the </a:t>
            </a:r>
            <a:r>
              <a:rPr lang="en-US" sz="2000">
                <a:solidFill>
                  <a:schemeClr val="dk2"/>
                </a:solidFill>
              </a:rPr>
              <a:t>return percentage of each EFTs. T</a:t>
            </a:r>
            <a:r>
              <a:rPr lang="en-US" sz="2000">
                <a:solidFill>
                  <a:schemeClr val="dk2"/>
                </a:solidFill>
              </a:rPr>
              <a:t>o </a:t>
            </a:r>
            <a:r>
              <a:rPr lang="en-US" sz="2000">
                <a:solidFill>
                  <a:schemeClr val="dk2"/>
                </a:solidFill>
              </a:rPr>
              <a:t>produce the correlation predicted matrix and the correlation residuals, we apply the function getArima. Also the prediction of return_percentage^2 of each ETF and the residual of it for the future analysis is generated at the same time. </a:t>
            </a:r>
            <a:endParaRPr sz="2000">
              <a:solidFill>
                <a:schemeClr val="dk2"/>
              </a:solidFill>
            </a:endParaRPr>
          </a:p>
        </p:txBody>
      </p:sp>
      <p:pic>
        <p:nvPicPr>
          <p:cNvPr id="390" name="Google Shape;390;g263dfcc855e_0_18"/>
          <p:cNvPicPr preferRelativeResize="0"/>
          <p:nvPr/>
        </p:nvPicPr>
        <p:blipFill>
          <a:blip r:embed="rId3">
            <a:alphaModFix/>
          </a:blip>
          <a:stretch>
            <a:fillRect/>
          </a:stretch>
        </p:blipFill>
        <p:spPr>
          <a:xfrm>
            <a:off x="483200" y="3725027"/>
            <a:ext cx="11031149" cy="19867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2a76e504a22_0_214"/>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97" name="Google Shape;397;g2a76e504a22_0_214"/>
          <p:cNvPicPr preferRelativeResize="0"/>
          <p:nvPr/>
        </p:nvPicPr>
        <p:blipFill>
          <a:blip r:embed="rId3">
            <a:alphaModFix/>
          </a:blip>
          <a:stretch>
            <a:fillRect/>
          </a:stretch>
        </p:blipFill>
        <p:spPr>
          <a:xfrm>
            <a:off x="2178700" y="0"/>
            <a:ext cx="9381920" cy="6553200"/>
          </a:xfrm>
          <a:prstGeom prst="rect">
            <a:avLst/>
          </a:prstGeom>
          <a:noFill/>
          <a:ln>
            <a:noFill/>
          </a:ln>
        </p:spPr>
      </p:pic>
      <p:sp>
        <p:nvSpPr>
          <p:cNvPr id="398" name="Google Shape;398;g2a76e504a22_0_214"/>
          <p:cNvSpPr txBox="1"/>
          <p:nvPr/>
        </p:nvSpPr>
        <p:spPr>
          <a:xfrm>
            <a:off x="284800" y="1183200"/>
            <a:ext cx="18939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The function getArima is presented here. The basic logic follows the provided </a:t>
            </a:r>
            <a:r>
              <a:rPr lang="en-US" sz="2000">
                <a:solidFill>
                  <a:schemeClr val="dk2"/>
                </a:solidFill>
              </a:rPr>
              <a:t>material which tried multiple sets of parameters to find out the best match</a:t>
            </a:r>
            <a:endParaRPr sz="20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2a76e504a22_0_27"/>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Model - LSTM</a:t>
            </a:r>
            <a:endParaRPr/>
          </a:p>
        </p:txBody>
      </p:sp>
      <p:sp>
        <p:nvSpPr>
          <p:cNvPr id="405" name="Google Shape;405;g2a76e504a22_0_27"/>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06" name="Google Shape;406;g2a76e504a22_0_27"/>
          <p:cNvPicPr preferRelativeResize="0"/>
          <p:nvPr/>
        </p:nvPicPr>
        <p:blipFill>
          <a:blip r:embed="rId3">
            <a:alphaModFix/>
          </a:blip>
          <a:stretch>
            <a:fillRect/>
          </a:stretch>
        </p:blipFill>
        <p:spPr>
          <a:xfrm>
            <a:off x="574600" y="2314985"/>
            <a:ext cx="7048500" cy="714375"/>
          </a:xfrm>
          <a:prstGeom prst="rect">
            <a:avLst/>
          </a:prstGeom>
          <a:noFill/>
          <a:ln>
            <a:noFill/>
          </a:ln>
        </p:spPr>
      </p:pic>
      <p:sp>
        <p:nvSpPr>
          <p:cNvPr id="407" name="Google Shape;407;g2a76e504a22_0_27"/>
          <p:cNvSpPr txBox="1"/>
          <p:nvPr/>
        </p:nvSpPr>
        <p:spPr>
          <a:xfrm>
            <a:off x="574600" y="1419900"/>
            <a:ext cx="9357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The nonlinear prediction correlation matrix are generated by LSTM model, where the parameters are used from both input and the result of the ARIMA model.</a:t>
            </a:r>
            <a:endParaRPr sz="2000">
              <a:solidFill>
                <a:schemeClr val="dk2"/>
              </a:solidFill>
            </a:endParaRPr>
          </a:p>
        </p:txBody>
      </p:sp>
      <p:sp>
        <p:nvSpPr>
          <p:cNvPr id="408" name="Google Shape;408;g2a76e504a22_0_27"/>
          <p:cNvSpPr txBox="1"/>
          <p:nvPr/>
        </p:nvSpPr>
        <p:spPr>
          <a:xfrm>
            <a:off x="845300" y="3585600"/>
            <a:ext cx="10482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Within the function getLSTM, the following script shows the logic of our LSTM model with stated in epoch247.h5.</a:t>
            </a:r>
            <a:endParaRPr sz="2000">
              <a:solidFill>
                <a:schemeClr val="dk2"/>
              </a:solidFill>
            </a:endParaRPr>
          </a:p>
        </p:txBody>
      </p:sp>
      <p:pic>
        <p:nvPicPr>
          <p:cNvPr id="409" name="Google Shape;409;g2a76e504a22_0_27"/>
          <p:cNvPicPr preferRelativeResize="0"/>
          <p:nvPr/>
        </p:nvPicPr>
        <p:blipFill>
          <a:blip r:embed="rId4">
            <a:alphaModFix/>
          </a:blip>
          <a:stretch>
            <a:fillRect/>
          </a:stretch>
        </p:blipFill>
        <p:spPr>
          <a:xfrm>
            <a:off x="2274075" y="4520250"/>
            <a:ext cx="8134350" cy="1981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2a76e504a22_0_40"/>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416" name="Google Shape;416;g2a76e504a22_0_40"/>
          <p:cNvSpPr txBox="1"/>
          <p:nvPr/>
        </p:nvSpPr>
        <p:spPr>
          <a:xfrm>
            <a:off x="1146100" y="773200"/>
            <a:ext cx="8662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After we receive the linear and the nonlinear part of the </a:t>
            </a:r>
            <a:r>
              <a:rPr lang="en-US" sz="2000">
                <a:solidFill>
                  <a:schemeClr val="dk2"/>
                </a:solidFill>
              </a:rPr>
              <a:t>correlation</a:t>
            </a:r>
            <a:r>
              <a:rPr lang="en-US" sz="2000">
                <a:solidFill>
                  <a:schemeClr val="dk2"/>
                </a:solidFill>
              </a:rPr>
              <a:t> matrix, we combine them with the function “assemble” which simply calculated the average value of both </a:t>
            </a:r>
            <a:r>
              <a:rPr lang="en-US" sz="2000">
                <a:solidFill>
                  <a:schemeClr val="dk2"/>
                </a:solidFill>
              </a:rPr>
              <a:t>predicted</a:t>
            </a:r>
            <a:r>
              <a:rPr lang="en-US" sz="2000">
                <a:solidFill>
                  <a:schemeClr val="dk2"/>
                </a:solidFill>
              </a:rPr>
              <a:t> matrix.</a:t>
            </a:r>
            <a:endParaRPr sz="2000">
              <a:solidFill>
                <a:schemeClr val="dk2"/>
              </a:solidFill>
            </a:endParaRPr>
          </a:p>
        </p:txBody>
      </p:sp>
      <p:pic>
        <p:nvPicPr>
          <p:cNvPr id="417" name="Google Shape;417;g2a76e504a22_0_40"/>
          <p:cNvPicPr preferRelativeResize="0"/>
          <p:nvPr/>
        </p:nvPicPr>
        <p:blipFill>
          <a:blip r:embed="rId3">
            <a:alphaModFix/>
          </a:blip>
          <a:stretch>
            <a:fillRect/>
          </a:stretch>
        </p:blipFill>
        <p:spPr>
          <a:xfrm>
            <a:off x="1146100" y="2312300"/>
            <a:ext cx="5972175" cy="685800"/>
          </a:xfrm>
          <a:prstGeom prst="rect">
            <a:avLst/>
          </a:prstGeom>
          <a:noFill/>
          <a:ln>
            <a:noFill/>
          </a:ln>
        </p:spPr>
      </p:pic>
      <p:pic>
        <p:nvPicPr>
          <p:cNvPr id="418" name="Google Shape;418;g2a76e504a22_0_40"/>
          <p:cNvPicPr preferRelativeResize="0"/>
          <p:nvPr/>
        </p:nvPicPr>
        <p:blipFill>
          <a:blip r:embed="rId4">
            <a:alphaModFix/>
          </a:blip>
          <a:stretch>
            <a:fillRect/>
          </a:stretch>
        </p:blipFill>
        <p:spPr>
          <a:xfrm>
            <a:off x="1146100" y="3429000"/>
            <a:ext cx="6372225" cy="1428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2a76e504a22_0_223"/>
          <p:cNvSpPr txBox="1"/>
          <p:nvPr>
            <p:ph idx="1" type="body"/>
          </p:nvPr>
        </p:nvSpPr>
        <p:spPr>
          <a:xfrm>
            <a:off x="557575" y="324307"/>
            <a:ext cx="9510300" cy="14715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After generating the correlation matrix, the required covalence matrix can be </a:t>
            </a:r>
            <a:r>
              <a:rPr lang="en-US"/>
              <a:t>produced</a:t>
            </a:r>
            <a:r>
              <a:rPr lang="en-US"/>
              <a:t> by following scripts. And the results which are needed for the absorption ratio calculation are fulfilled.</a:t>
            </a:r>
            <a:endParaRPr/>
          </a:p>
        </p:txBody>
      </p:sp>
      <p:sp>
        <p:nvSpPr>
          <p:cNvPr id="425" name="Google Shape;425;g2a76e504a22_0_223"/>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26" name="Google Shape;426;g2a76e504a22_0_223"/>
          <p:cNvPicPr preferRelativeResize="0"/>
          <p:nvPr/>
        </p:nvPicPr>
        <p:blipFill>
          <a:blip r:embed="rId3">
            <a:alphaModFix/>
          </a:blip>
          <a:stretch>
            <a:fillRect/>
          </a:stretch>
        </p:blipFill>
        <p:spPr>
          <a:xfrm>
            <a:off x="557575" y="1262407"/>
            <a:ext cx="10034573" cy="475739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a76e504a22_0_83"/>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Model - PCA</a:t>
            </a:r>
            <a:endParaRPr/>
          </a:p>
        </p:txBody>
      </p:sp>
      <p:sp>
        <p:nvSpPr>
          <p:cNvPr id="433" name="Google Shape;433;g2a76e504a22_0_83"/>
          <p:cNvSpPr txBox="1"/>
          <p:nvPr>
            <p:ph idx="1" type="body"/>
          </p:nvPr>
        </p:nvSpPr>
        <p:spPr>
          <a:xfrm>
            <a:off x="422225" y="1452275"/>
            <a:ext cx="4995000" cy="16971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First, with 20 ETFs daily price enters the system, we would calculated the daily returns of each ETF. Then, we normalized the return to fit the following models as or data pre-processing. </a:t>
            </a:r>
            <a:endParaRPr/>
          </a:p>
        </p:txBody>
      </p:sp>
      <p:sp>
        <p:nvSpPr>
          <p:cNvPr id="434" name="Google Shape;434;g2a76e504a22_0_83"/>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35" name="Google Shape;435;g2a76e504a22_0_83"/>
          <p:cNvPicPr preferRelativeResize="0"/>
          <p:nvPr/>
        </p:nvPicPr>
        <p:blipFill>
          <a:blip r:embed="rId3">
            <a:alphaModFix/>
          </a:blip>
          <a:stretch>
            <a:fillRect/>
          </a:stretch>
        </p:blipFill>
        <p:spPr>
          <a:xfrm>
            <a:off x="5912500" y="1373825"/>
            <a:ext cx="5076825" cy="2133600"/>
          </a:xfrm>
          <a:prstGeom prst="rect">
            <a:avLst/>
          </a:prstGeom>
          <a:noFill/>
          <a:ln>
            <a:noFill/>
          </a:ln>
        </p:spPr>
      </p:pic>
      <p:sp>
        <p:nvSpPr>
          <p:cNvPr id="436" name="Google Shape;436;g2a76e504a22_0_83"/>
          <p:cNvSpPr txBox="1"/>
          <p:nvPr/>
        </p:nvSpPr>
        <p:spPr>
          <a:xfrm>
            <a:off x="422225" y="3868375"/>
            <a:ext cx="5076900" cy="15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2"/>
                </a:solidFill>
              </a:rPr>
              <a:t>Then, we define the parameter of our ARIMA+LSTM model with window size of 300, step size of 1, variance threshold of 0.8, number of asset of 5, and number of principal components of 2. </a:t>
            </a:r>
            <a:endParaRPr sz="2000">
              <a:solidFill>
                <a:schemeClr val="dk2"/>
              </a:solidFill>
            </a:endParaRPr>
          </a:p>
        </p:txBody>
      </p:sp>
      <p:pic>
        <p:nvPicPr>
          <p:cNvPr id="437" name="Google Shape;437;g2a76e504a22_0_83"/>
          <p:cNvPicPr preferRelativeResize="0"/>
          <p:nvPr/>
        </p:nvPicPr>
        <p:blipFill>
          <a:blip r:embed="rId4">
            <a:alphaModFix/>
          </a:blip>
          <a:stretch>
            <a:fillRect/>
          </a:stretch>
        </p:blipFill>
        <p:spPr>
          <a:xfrm>
            <a:off x="5912500" y="3795175"/>
            <a:ext cx="5756701" cy="237201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2a76e504a22_0_193"/>
          <p:cNvSpPr txBox="1"/>
          <p:nvPr>
            <p:ph idx="1" type="body"/>
          </p:nvPr>
        </p:nvSpPr>
        <p:spPr>
          <a:xfrm>
            <a:off x="452325" y="0"/>
            <a:ext cx="9552000" cy="8850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a:t>With these parameters and the definition of the absorption ratio, we can loop the calculation by fits PCA to covalent matrix which provide by ARIMA+LSTM model.</a:t>
            </a:r>
            <a:endParaRPr/>
          </a:p>
        </p:txBody>
      </p:sp>
      <p:sp>
        <p:nvSpPr>
          <p:cNvPr id="444" name="Google Shape;444;g2a76e504a22_0_193"/>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45" name="Google Shape;445;g2a76e504a22_0_193"/>
          <p:cNvPicPr preferRelativeResize="0"/>
          <p:nvPr/>
        </p:nvPicPr>
        <p:blipFill rotWithShape="1">
          <a:blip r:embed="rId3">
            <a:alphaModFix/>
          </a:blip>
          <a:srcRect b="0" l="0" r="0" t="10618"/>
          <a:stretch/>
        </p:blipFill>
        <p:spPr>
          <a:xfrm>
            <a:off x="1947800" y="950588"/>
            <a:ext cx="9520299" cy="5468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2a76e504a22_0_176"/>
          <p:cNvSpPr txBox="1"/>
          <p:nvPr>
            <p:ph idx="1" type="body"/>
          </p:nvPr>
        </p:nvSpPr>
        <p:spPr>
          <a:xfrm>
            <a:off x="422225" y="1452250"/>
            <a:ext cx="10920600" cy="12459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sz="1900"/>
              <a:t>The absorption ratio array shown above is produced by loop. By following </a:t>
            </a:r>
            <a:r>
              <a:rPr lang="en-US" sz="1900"/>
              <a:t>functions, we testify the proper indicator value for using the PCA, components needed for results, and the variance of it. The KMO gives the value is still between 0.6 and 1, which means PCA would extract useful information.</a:t>
            </a:r>
            <a:endParaRPr sz="1900"/>
          </a:p>
        </p:txBody>
      </p:sp>
      <p:sp>
        <p:nvSpPr>
          <p:cNvPr id="452" name="Google Shape;452;g2a76e504a22_0_176"/>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53" name="Google Shape;453;g2a76e504a22_0_176"/>
          <p:cNvPicPr preferRelativeResize="0"/>
          <p:nvPr/>
        </p:nvPicPr>
        <p:blipFill>
          <a:blip r:embed="rId3">
            <a:alphaModFix/>
          </a:blip>
          <a:stretch>
            <a:fillRect/>
          </a:stretch>
        </p:blipFill>
        <p:spPr>
          <a:xfrm>
            <a:off x="422213" y="275700"/>
            <a:ext cx="7381875" cy="952500"/>
          </a:xfrm>
          <a:prstGeom prst="rect">
            <a:avLst/>
          </a:prstGeom>
          <a:noFill/>
          <a:ln>
            <a:noFill/>
          </a:ln>
        </p:spPr>
      </p:pic>
      <p:pic>
        <p:nvPicPr>
          <p:cNvPr id="454" name="Google Shape;454;g2a76e504a22_0_176"/>
          <p:cNvPicPr preferRelativeResize="0"/>
          <p:nvPr/>
        </p:nvPicPr>
        <p:blipFill>
          <a:blip r:embed="rId4">
            <a:alphaModFix/>
          </a:blip>
          <a:stretch>
            <a:fillRect/>
          </a:stretch>
        </p:blipFill>
        <p:spPr>
          <a:xfrm>
            <a:off x="538150" y="2464972"/>
            <a:ext cx="11115675" cy="3305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2a76e504a22_0_116"/>
          <p:cNvSpPr txBox="1"/>
          <p:nvPr>
            <p:ph idx="1" type="body"/>
          </p:nvPr>
        </p:nvSpPr>
        <p:spPr>
          <a:xfrm>
            <a:off x="422226" y="1452275"/>
            <a:ext cx="4754400" cy="45315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sz="1900"/>
              <a:t>The first figure is the AR vs. PCA without ARIMA+LSTM model. The Absorption ratio is simply calculated by a function without consideration of linear and nonlinear. The </a:t>
            </a:r>
            <a:r>
              <a:rPr lang="en-US" sz="1900"/>
              <a:t>minimum</a:t>
            </a:r>
            <a:r>
              <a:rPr lang="en-US" sz="1900"/>
              <a:t> AR value shows about 0.75. The average AR shows around 0.88.</a:t>
            </a:r>
            <a:br>
              <a:rPr lang="en-US" sz="1900"/>
            </a:br>
            <a:endParaRPr sz="1900"/>
          </a:p>
          <a:p>
            <a:pPr indent="0" lvl="0" marL="0" rtl="0" algn="l">
              <a:spcBef>
                <a:spcPts val="1800"/>
              </a:spcBef>
              <a:spcAft>
                <a:spcPts val="0"/>
              </a:spcAft>
              <a:buNone/>
            </a:pPr>
            <a:r>
              <a:rPr lang="en-US" sz="1900"/>
              <a:t>With the ARIMA+LSTM model, the AR vs PCA shows lower minimum value around 0.5 with similar average absorption ratio about 0.80. The variance after model is applied is certainly larger than before.</a:t>
            </a:r>
            <a:endParaRPr sz="1900"/>
          </a:p>
          <a:p>
            <a:pPr indent="0" lvl="0" marL="0" rtl="0" algn="l">
              <a:spcBef>
                <a:spcPts val="1800"/>
              </a:spcBef>
              <a:spcAft>
                <a:spcPts val="0"/>
              </a:spcAft>
              <a:buNone/>
            </a:pPr>
            <a:r>
              <a:rPr lang="en-US" sz="1900"/>
              <a:t>That shows after applied our model, the overall AR have decreased.</a:t>
            </a:r>
            <a:endParaRPr sz="1900"/>
          </a:p>
        </p:txBody>
      </p:sp>
      <p:sp>
        <p:nvSpPr>
          <p:cNvPr id="461" name="Google Shape;461;g2a76e504a22_0_116"/>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62" name="Google Shape;462;g2a76e504a22_0_116"/>
          <p:cNvPicPr preferRelativeResize="0"/>
          <p:nvPr/>
        </p:nvPicPr>
        <p:blipFill>
          <a:blip r:embed="rId3">
            <a:alphaModFix/>
          </a:blip>
          <a:stretch>
            <a:fillRect/>
          </a:stretch>
        </p:blipFill>
        <p:spPr>
          <a:xfrm>
            <a:off x="5344250" y="3219480"/>
            <a:ext cx="6130949" cy="3099545"/>
          </a:xfrm>
          <a:prstGeom prst="rect">
            <a:avLst/>
          </a:prstGeom>
          <a:noFill/>
          <a:ln>
            <a:noFill/>
          </a:ln>
        </p:spPr>
      </p:pic>
      <p:sp>
        <p:nvSpPr>
          <p:cNvPr id="463" name="Google Shape;463;g2a76e504a22_0_116"/>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Result</a:t>
            </a:r>
            <a:endParaRPr/>
          </a:p>
        </p:txBody>
      </p:sp>
      <p:pic>
        <p:nvPicPr>
          <p:cNvPr id="464" name="Google Shape;464;g2a76e504a22_0_116"/>
          <p:cNvPicPr preferRelativeResize="0"/>
          <p:nvPr/>
        </p:nvPicPr>
        <p:blipFill>
          <a:blip r:embed="rId4">
            <a:alphaModFix/>
          </a:blip>
          <a:stretch>
            <a:fillRect/>
          </a:stretch>
        </p:blipFill>
        <p:spPr>
          <a:xfrm>
            <a:off x="5337150" y="0"/>
            <a:ext cx="6145159" cy="3099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2a76e504a22_0_124"/>
          <p:cNvSpPr txBox="1"/>
          <p:nvPr>
            <p:ph idx="1" type="body"/>
          </p:nvPr>
        </p:nvSpPr>
        <p:spPr>
          <a:xfrm>
            <a:off x="362050" y="2045400"/>
            <a:ext cx="4769400" cy="27672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The absorption ratio delta shows the standardized change of AR over time. The original model shows larger variation and maxmin difference from -3 to 2. Which as our model, the AR delta are limited between -2.3 and 1. With lower standardized change of AR, our trading system shows more </a:t>
            </a:r>
            <a:r>
              <a:rPr lang="en-US"/>
              <a:t>stable trading strategy and annual return.</a:t>
            </a:r>
            <a:endParaRPr/>
          </a:p>
        </p:txBody>
      </p:sp>
      <p:sp>
        <p:nvSpPr>
          <p:cNvPr id="471" name="Google Shape;471;g2a76e504a22_0_124"/>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72" name="Google Shape;472;g2a76e504a22_0_124"/>
          <p:cNvPicPr preferRelativeResize="0"/>
          <p:nvPr/>
        </p:nvPicPr>
        <p:blipFill>
          <a:blip r:embed="rId3">
            <a:alphaModFix/>
          </a:blip>
          <a:stretch>
            <a:fillRect/>
          </a:stretch>
        </p:blipFill>
        <p:spPr>
          <a:xfrm>
            <a:off x="5376825" y="3429000"/>
            <a:ext cx="6464924" cy="3206875"/>
          </a:xfrm>
          <a:prstGeom prst="rect">
            <a:avLst/>
          </a:prstGeom>
          <a:noFill/>
          <a:ln>
            <a:noFill/>
          </a:ln>
        </p:spPr>
      </p:pic>
      <p:pic>
        <p:nvPicPr>
          <p:cNvPr id="473" name="Google Shape;473;g2a76e504a22_0_124"/>
          <p:cNvPicPr preferRelativeResize="0"/>
          <p:nvPr/>
        </p:nvPicPr>
        <p:blipFill>
          <a:blip r:embed="rId4">
            <a:alphaModFix/>
          </a:blip>
          <a:stretch>
            <a:fillRect/>
          </a:stretch>
        </p:blipFill>
        <p:spPr>
          <a:xfrm>
            <a:off x="5537863" y="182475"/>
            <a:ext cx="6142853" cy="3124200"/>
          </a:xfrm>
          <a:prstGeom prst="rect">
            <a:avLst/>
          </a:prstGeom>
          <a:noFill/>
          <a:ln>
            <a:noFill/>
          </a:ln>
        </p:spPr>
      </p:pic>
      <p:pic>
        <p:nvPicPr>
          <p:cNvPr id="474" name="Google Shape;474;g2a76e504a22_0_124"/>
          <p:cNvPicPr preferRelativeResize="0"/>
          <p:nvPr/>
        </p:nvPicPr>
        <p:blipFill>
          <a:blip r:embed="rId5">
            <a:alphaModFix/>
          </a:blip>
          <a:stretch>
            <a:fillRect/>
          </a:stretch>
        </p:blipFill>
        <p:spPr>
          <a:xfrm>
            <a:off x="1637088" y="1130000"/>
            <a:ext cx="2219325" cy="685800"/>
          </a:xfrm>
          <a:prstGeom prst="rect">
            <a:avLst/>
          </a:prstGeom>
          <a:noFill/>
          <a:ln>
            <a:noFill/>
          </a:ln>
        </p:spPr>
      </p:pic>
      <p:sp>
        <p:nvSpPr>
          <p:cNvPr id="475" name="Google Shape;475;g2a76e504a22_0_124"/>
          <p:cNvSpPr txBox="1"/>
          <p:nvPr/>
        </p:nvSpPr>
        <p:spPr>
          <a:xfrm>
            <a:off x="5016338" y="-69475"/>
            <a:ext cx="7185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Without ARIMA+LSTM</a:t>
            </a:r>
            <a:endParaRPr sz="2000">
              <a:solidFill>
                <a:schemeClr val="dk2"/>
              </a:solidFill>
            </a:endParaRPr>
          </a:p>
        </p:txBody>
      </p:sp>
      <p:sp>
        <p:nvSpPr>
          <p:cNvPr id="476" name="Google Shape;476;g2a76e504a22_0_124"/>
          <p:cNvSpPr txBox="1"/>
          <p:nvPr/>
        </p:nvSpPr>
        <p:spPr>
          <a:xfrm>
            <a:off x="5376825" y="3182700"/>
            <a:ext cx="684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With ARIMA+LSTM</a:t>
            </a:r>
            <a:endParaRPr sz="20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2a8092ebe27_3_7"/>
          <p:cNvSpPr txBox="1"/>
          <p:nvPr>
            <p:ph idx="1" type="body"/>
          </p:nvPr>
        </p:nvSpPr>
        <p:spPr>
          <a:xfrm>
            <a:off x="422225" y="564925"/>
            <a:ext cx="9510300" cy="54189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With the same AR Delta Trading Strategy below, we could find the original system gives the average number of trades per year is 3.60, and our ARIMA+LSTM modeling system gives the average number of trades per year is 6.00, which we could observe a increase of trades per year after applied the model.</a:t>
            </a:r>
            <a:endParaRPr/>
          </a:p>
        </p:txBody>
      </p:sp>
      <p:sp>
        <p:nvSpPr>
          <p:cNvPr id="483" name="Google Shape;483;g2a8092ebe27_3_7"/>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84" name="Google Shape;484;g2a8092ebe27_3_7"/>
          <p:cNvPicPr preferRelativeResize="0"/>
          <p:nvPr/>
        </p:nvPicPr>
        <p:blipFill>
          <a:blip r:embed="rId3">
            <a:alphaModFix/>
          </a:blip>
          <a:stretch>
            <a:fillRect/>
          </a:stretch>
        </p:blipFill>
        <p:spPr>
          <a:xfrm>
            <a:off x="422225" y="1888975"/>
            <a:ext cx="10089924" cy="1244250"/>
          </a:xfrm>
          <a:prstGeom prst="rect">
            <a:avLst/>
          </a:prstGeom>
          <a:noFill/>
          <a:ln>
            <a:noFill/>
          </a:ln>
        </p:spPr>
      </p:pic>
      <p:pic>
        <p:nvPicPr>
          <p:cNvPr id="485" name="Google Shape;485;g2a8092ebe27_3_7"/>
          <p:cNvPicPr preferRelativeResize="0"/>
          <p:nvPr/>
        </p:nvPicPr>
        <p:blipFill>
          <a:blip r:embed="rId4">
            <a:alphaModFix/>
          </a:blip>
          <a:stretch>
            <a:fillRect/>
          </a:stretch>
        </p:blipFill>
        <p:spPr>
          <a:xfrm>
            <a:off x="422225" y="3290875"/>
            <a:ext cx="5580677" cy="2174500"/>
          </a:xfrm>
          <a:prstGeom prst="rect">
            <a:avLst/>
          </a:prstGeom>
          <a:noFill/>
          <a:ln>
            <a:noFill/>
          </a:ln>
        </p:spPr>
      </p:pic>
      <p:pic>
        <p:nvPicPr>
          <p:cNvPr id="486" name="Google Shape;486;g2a8092ebe27_3_7"/>
          <p:cNvPicPr preferRelativeResize="0"/>
          <p:nvPr/>
        </p:nvPicPr>
        <p:blipFill>
          <a:blip r:embed="rId5">
            <a:alphaModFix/>
          </a:blip>
          <a:stretch>
            <a:fillRect/>
          </a:stretch>
        </p:blipFill>
        <p:spPr>
          <a:xfrm>
            <a:off x="6096000" y="3133226"/>
            <a:ext cx="5601715" cy="2174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2a76e504a22_0_132"/>
          <p:cNvSpPr txBox="1"/>
          <p:nvPr>
            <p:ph idx="1" type="body"/>
          </p:nvPr>
        </p:nvSpPr>
        <p:spPr>
          <a:xfrm>
            <a:off x="1004100" y="729850"/>
            <a:ext cx="10183800" cy="25695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With the backtested strategy, our </a:t>
            </a:r>
            <a:r>
              <a:rPr lang="en-US"/>
              <a:t>absorption ratio portfolio also beats the equally weighted portfolio with higher difference. Especially for the sharpe ratio which represents the with unit of risk what the annual return would be. Compare with the original system, may due to the timeline difference, the overall economy environment is better </a:t>
            </a:r>
            <a:r>
              <a:rPr lang="en-US"/>
              <a:t>than</a:t>
            </a:r>
            <a:r>
              <a:rPr lang="en-US"/>
              <a:t> our time window, the annual return of the both strategy is higher </a:t>
            </a:r>
            <a:r>
              <a:rPr lang="en-US"/>
              <a:t>than</a:t>
            </a:r>
            <a:r>
              <a:rPr lang="en-US"/>
              <a:t> our results. But the </a:t>
            </a:r>
            <a:r>
              <a:rPr lang="en-US"/>
              <a:t>percentage</a:t>
            </a:r>
            <a:r>
              <a:rPr lang="en-US"/>
              <a:t> of improvement shows that our model still </a:t>
            </a:r>
            <a:r>
              <a:rPr lang="en-US"/>
              <a:t>perform</a:t>
            </a:r>
            <a:r>
              <a:rPr lang="en-US"/>
              <a:t> better </a:t>
            </a:r>
            <a:r>
              <a:rPr lang="en-US"/>
              <a:t>behavior</a:t>
            </a:r>
            <a:r>
              <a:rPr lang="en-US"/>
              <a:t> than the model without ARIMA-LSTM.</a:t>
            </a:r>
            <a:endParaRPr/>
          </a:p>
        </p:txBody>
      </p:sp>
      <p:sp>
        <p:nvSpPr>
          <p:cNvPr id="493" name="Google Shape;493;g2a76e504a22_0_132"/>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494" name="Google Shape;494;g2a76e504a22_0_132"/>
          <p:cNvPicPr preferRelativeResize="0"/>
          <p:nvPr/>
        </p:nvPicPr>
        <p:blipFill>
          <a:blip r:embed="rId3">
            <a:alphaModFix/>
          </a:blip>
          <a:stretch>
            <a:fillRect/>
          </a:stretch>
        </p:blipFill>
        <p:spPr>
          <a:xfrm>
            <a:off x="1716500" y="5491425"/>
            <a:ext cx="8515350" cy="590550"/>
          </a:xfrm>
          <a:prstGeom prst="rect">
            <a:avLst/>
          </a:prstGeom>
          <a:noFill/>
          <a:ln>
            <a:noFill/>
          </a:ln>
        </p:spPr>
      </p:pic>
      <p:pic>
        <p:nvPicPr>
          <p:cNvPr id="495" name="Google Shape;495;g2a76e504a22_0_132"/>
          <p:cNvPicPr preferRelativeResize="0"/>
          <p:nvPr/>
        </p:nvPicPr>
        <p:blipFill>
          <a:blip r:embed="rId4">
            <a:alphaModFix/>
          </a:blip>
          <a:stretch>
            <a:fillRect/>
          </a:stretch>
        </p:blipFill>
        <p:spPr>
          <a:xfrm>
            <a:off x="1716500" y="4320419"/>
            <a:ext cx="8515350" cy="765931"/>
          </a:xfrm>
          <a:prstGeom prst="rect">
            <a:avLst/>
          </a:prstGeom>
          <a:noFill/>
          <a:ln>
            <a:noFill/>
          </a:ln>
        </p:spPr>
      </p:pic>
      <p:sp>
        <p:nvSpPr>
          <p:cNvPr id="496" name="Google Shape;496;g2a76e504a22_0_132"/>
          <p:cNvSpPr txBox="1"/>
          <p:nvPr/>
        </p:nvSpPr>
        <p:spPr>
          <a:xfrm>
            <a:off x="1642775" y="3946550"/>
            <a:ext cx="8662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Original System</a:t>
            </a:r>
            <a:endParaRPr sz="2000">
              <a:solidFill>
                <a:schemeClr val="dk2"/>
              </a:solidFill>
            </a:endParaRPr>
          </a:p>
        </p:txBody>
      </p:sp>
      <p:sp>
        <p:nvSpPr>
          <p:cNvPr id="497" name="Google Shape;497;g2a76e504a22_0_132"/>
          <p:cNvSpPr txBox="1"/>
          <p:nvPr/>
        </p:nvSpPr>
        <p:spPr>
          <a:xfrm>
            <a:off x="1642775" y="5086350"/>
            <a:ext cx="8662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System with ARIMA+LSTM</a:t>
            </a:r>
            <a:endParaRPr sz="20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2a76e504a22_0_246"/>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504" name="Google Shape;504;g2a76e504a22_0_246"/>
          <p:cNvPicPr preferRelativeResize="0"/>
          <p:nvPr/>
        </p:nvPicPr>
        <p:blipFill>
          <a:blip r:embed="rId3">
            <a:alphaModFix/>
          </a:blip>
          <a:stretch>
            <a:fillRect/>
          </a:stretch>
        </p:blipFill>
        <p:spPr>
          <a:xfrm>
            <a:off x="6814875" y="132250"/>
            <a:ext cx="4281325" cy="3204050"/>
          </a:xfrm>
          <a:prstGeom prst="rect">
            <a:avLst/>
          </a:prstGeom>
          <a:noFill/>
          <a:ln>
            <a:noFill/>
          </a:ln>
        </p:spPr>
      </p:pic>
      <p:pic>
        <p:nvPicPr>
          <p:cNvPr id="505" name="Google Shape;505;g2a76e504a22_0_246"/>
          <p:cNvPicPr preferRelativeResize="0"/>
          <p:nvPr/>
        </p:nvPicPr>
        <p:blipFill>
          <a:blip r:embed="rId4">
            <a:alphaModFix/>
          </a:blip>
          <a:stretch>
            <a:fillRect/>
          </a:stretch>
        </p:blipFill>
        <p:spPr>
          <a:xfrm>
            <a:off x="6632938" y="3576935"/>
            <a:ext cx="4645200" cy="3204030"/>
          </a:xfrm>
          <a:prstGeom prst="rect">
            <a:avLst/>
          </a:prstGeom>
          <a:noFill/>
          <a:ln>
            <a:noFill/>
          </a:ln>
        </p:spPr>
      </p:pic>
      <p:sp>
        <p:nvSpPr>
          <p:cNvPr id="506" name="Google Shape;506;g2a76e504a22_0_246"/>
          <p:cNvSpPr txBox="1"/>
          <p:nvPr/>
        </p:nvSpPr>
        <p:spPr>
          <a:xfrm>
            <a:off x="1161125" y="773200"/>
            <a:ext cx="4527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2"/>
              </a:solidFill>
            </a:endParaRPr>
          </a:p>
        </p:txBody>
      </p:sp>
      <p:sp>
        <p:nvSpPr>
          <p:cNvPr id="507" name="Google Shape;507;g2a76e504a22_0_246"/>
          <p:cNvSpPr txBox="1"/>
          <p:nvPr/>
        </p:nvSpPr>
        <p:spPr>
          <a:xfrm>
            <a:off x="5019200" y="132250"/>
            <a:ext cx="202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Original System</a:t>
            </a:r>
            <a:endParaRPr sz="2000">
              <a:solidFill>
                <a:schemeClr val="dk2"/>
              </a:solidFill>
            </a:endParaRPr>
          </a:p>
        </p:txBody>
      </p:sp>
      <p:sp>
        <p:nvSpPr>
          <p:cNvPr id="508" name="Google Shape;508;g2a76e504a22_0_246"/>
          <p:cNvSpPr txBox="1"/>
          <p:nvPr/>
        </p:nvSpPr>
        <p:spPr>
          <a:xfrm>
            <a:off x="5131950" y="3182700"/>
            <a:ext cx="348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System with ARIMA+LSTM</a:t>
            </a:r>
            <a:endParaRPr sz="2000">
              <a:solidFill>
                <a:schemeClr val="dk2"/>
              </a:solidFill>
            </a:endParaRPr>
          </a:p>
        </p:txBody>
      </p:sp>
      <p:sp>
        <p:nvSpPr>
          <p:cNvPr id="509" name="Google Shape;509;g2a76e504a22_0_246"/>
          <p:cNvSpPr txBox="1"/>
          <p:nvPr/>
        </p:nvSpPr>
        <p:spPr>
          <a:xfrm>
            <a:off x="544500" y="1951350"/>
            <a:ext cx="47976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2"/>
                </a:solidFill>
              </a:rPr>
              <a:t>The total return of the </a:t>
            </a:r>
            <a:r>
              <a:rPr lang="en-US" sz="2000">
                <a:solidFill>
                  <a:schemeClr val="dk2"/>
                </a:solidFill>
              </a:rPr>
              <a:t>investment</a:t>
            </a:r>
            <a:r>
              <a:rPr lang="en-US" sz="2000">
                <a:solidFill>
                  <a:schemeClr val="dk2"/>
                </a:solidFill>
              </a:rPr>
              <a:t> is visualized when backtested strategy is applied to the system. With the different strategy and time interval, the result shows rather unchanged. Within four years, the return rate is about the same at around 1.4. With our system, the huge </a:t>
            </a:r>
            <a:r>
              <a:rPr lang="en-US" sz="2000">
                <a:solidFill>
                  <a:schemeClr val="dk2"/>
                </a:solidFill>
              </a:rPr>
              <a:t>loss</a:t>
            </a:r>
            <a:r>
              <a:rPr lang="en-US" sz="2000">
                <a:solidFill>
                  <a:schemeClr val="dk2"/>
                </a:solidFill>
              </a:rPr>
              <a:t> doesn’t </a:t>
            </a:r>
            <a:r>
              <a:rPr lang="en-US" sz="2000">
                <a:solidFill>
                  <a:schemeClr val="dk2"/>
                </a:solidFill>
              </a:rPr>
              <a:t>happen</a:t>
            </a:r>
            <a:r>
              <a:rPr lang="en-US" sz="2000">
                <a:solidFill>
                  <a:schemeClr val="dk2"/>
                </a:solidFill>
              </a:rPr>
              <a:t> anymore which shows more stability.</a:t>
            </a:r>
            <a:endParaRPr sz="20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2a8092ebe27_3_0"/>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AR Comparison of original vs ARIMA+LSTM</a:t>
            </a:r>
            <a:endParaRPr/>
          </a:p>
        </p:txBody>
      </p:sp>
      <p:sp>
        <p:nvSpPr>
          <p:cNvPr id="516" name="Google Shape;516;g2a8092ebe27_3_0"/>
          <p:cNvSpPr txBox="1"/>
          <p:nvPr>
            <p:ph idx="1" type="body"/>
          </p:nvPr>
        </p:nvSpPr>
        <p:spPr>
          <a:xfrm>
            <a:off x="422226" y="1452286"/>
            <a:ext cx="9510300" cy="45315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We could notice that the AR of our modeling vs original system have decreased from 0.97 to 0.82. That means our modeling is effective since a high value of absorption ratio corresponds to a high level of systemic risk, and we should not expected high systemic risk necessarily to lead to </a:t>
            </a:r>
            <a:r>
              <a:rPr lang="en-US"/>
              <a:t>asset</a:t>
            </a:r>
            <a:r>
              <a:rPr lang="en-US"/>
              <a:t> depreciation or financial turbulence. Thus, the </a:t>
            </a:r>
            <a:r>
              <a:rPr lang="en-US"/>
              <a:t>decrease</a:t>
            </a:r>
            <a:r>
              <a:rPr lang="en-US"/>
              <a:t> of AR is our expected for modeling.</a:t>
            </a:r>
            <a:endParaRPr/>
          </a:p>
        </p:txBody>
      </p:sp>
      <p:sp>
        <p:nvSpPr>
          <p:cNvPr id="517" name="Google Shape;517;g2a8092ebe27_3_0"/>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518" name="Google Shape;518;g2a8092ebe27_3_0"/>
          <p:cNvPicPr preferRelativeResize="0"/>
          <p:nvPr/>
        </p:nvPicPr>
        <p:blipFill>
          <a:blip r:embed="rId3">
            <a:alphaModFix/>
          </a:blip>
          <a:stretch>
            <a:fillRect/>
          </a:stretch>
        </p:blipFill>
        <p:spPr>
          <a:xfrm>
            <a:off x="514175" y="2936300"/>
            <a:ext cx="4793526" cy="3083500"/>
          </a:xfrm>
          <a:prstGeom prst="rect">
            <a:avLst/>
          </a:prstGeom>
          <a:noFill/>
          <a:ln>
            <a:noFill/>
          </a:ln>
        </p:spPr>
      </p:pic>
      <p:pic>
        <p:nvPicPr>
          <p:cNvPr id="519" name="Google Shape;519;g2a8092ebe27_3_0"/>
          <p:cNvPicPr preferRelativeResize="0"/>
          <p:nvPr/>
        </p:nvPicPr>
        <p:blipFill>
          <a:blip r:embed="rId4">
            <a:alphaModFix/>
          </a:blip>
          <a:stretch>
            <a:fillRect/>
          </a:stretch>
        </p:blipFill>
        <p:spPr>
          <a:xfrm>
            <a:off x="5728125" y="3065162"/>
            <a:ext cx="4677324" cy="282576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g2a76e504a22_0_63"/>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Improvement</a:t>
            </a:r>
            <a:endParaRPr/>
          </a:p>
        </p:txBody>
      </p:sp>
      <p:sp>
        <p:nvSpPr>
          <p:cNvPr id="526" name="Google Shape;526;g2a76e504a22_0_63"/>
          <p:cNvSpPr txBox="1"/>
          <p:nvPr>
            <p:ph idx="1" type="body"/>
          </p:nvPr>
        </p:nvSpPr>
        <p:spPr>
          <a:xfrm>
            <a:off x="422226" y="1452286"/>
            <a:ext cx="9510300" cy="4531500"/>
          </a:xfrm>
          <a:prstGeom prst="rect">
            <a:avLst/>
          </a:prstGeom>
        </p:spPr>
        <p:txBody>
          <a:bodyPr anchorCtr="0" anchor="t" bIns="45700" lIns="91425" spcFirstLastPara="1" rIns="91425" wrap="square" tIns="45700">
            <a:normAutofit/>
          </a:bodyPr>
          <a:lstStyle/>
          <a:p>
            <a:pPr indent="-349250" lvl="0" marL="457200" rtl="0" algn="l">
              <a:spcBef>
                <a:spcPts val="1800"/>
              </a:spcBef>
              <a:spcAft>
                <a:spcPts val="0"/>
              </a:spcAft>
              <a:buSzPts val="1900"/>
              <a:buChar char="•"/>
            </a:pPr>
            <a:r>
              <a:rPr lang="en-US" sz="2100"/>
              <a:t>With </a:t>
            </a:r>
            <a:r>
              <a:rPr lang="en-US" sz="2100"/>
              <a:t>similar</a:t>
            </a:r>
            <a:r>
              <a:rPr lang="en-US" sz="2100"/>
              <a:t> annual return, the annual </a:t>
            </a:r>
            <a:r>
              <a:rPr lang="en-US" sz="2100"/>
              <a:t>volatility</a:t>
            </a:r>
            <a:r>
              <a:rPr lang="en-US" sz="2100"/>
              <a:t> is lower compare with original system. The risk is lower than before.</a:t>
            </a:r>
            <a:endParaRPr sz="2100"/>
          </a:p>
          <a:p>
            <a:pPr indent="-349250" lvl="0" marL="457200" rtl="0" algn="l">
              <a:spcBef>
                <a:spcPts val="0"/>
              </a:spcBef>
              <a:spcAft>
                <a:spcPts val="0"/>
              </a:spcAft>
              <a:buSzPts val="1900"/>
              <a:buChar char="•"/>
            </a:pPr>
            <a:r>
              <a:rPr lang="en-US" sz="2100"/>
              <a:t>Also the higher sharpe ratio shows with the same risk our return is higher than </a:t>
            </a:r>
            <a:r>
              <a:rPr lang="en-US" sz="2100"/>
              <a:t>original</a:t>
            </a:r>
            <a:r>
              <a:rPr lang="en-US" sz="2100"/>
              <a:t> system.</a:t>
            </a:r>
            <a:endParaRPr sz="2100"/>
          </a:p>
          <a:p>
            <a:pPr indent="-349250" lvl="0" marL="457200" rtl="0" algn="l">
              <a:spcBef>
                <a:spcPts val="0"/>
              </a:spcBef>
              <a:spcAft>
                <a:spcPts val="0"/>
              </a:spcAft>
              <a:buSzPts val="1900"/>
              <a:buChar char="•"/>
            </a:pPr>
            <a:r>
              <a:rPr lang="en-US" sz="2100"/>
              <a:t>The absorption ratio delta is closer to 0 than original system which represents that the developed system is more stable with same strategy and less trading number during the year with less </a:t>
            </a:r>
            <a:r>
              <a:rPr lang="en-US" sz="2100"/>
              <a:t>brokerage</a:t>
            </a:r>
            <a:r>
              <a:rPr lang="en-US" sz="2100"/>
              <a:t> cost.</a:t>
            </a:r>
            <a:endParaRPr sz="2100"/>
          </a:p>
          <a:p>
            <a:pPr indent="-361950" lvl="0" marL="457200" rtl="0" algn="l">
              <a:spcBef>
                <a:spcPts val="0"/>
              </a:spcBef>
              <a:spcAft>
                <a:spcPts val="0"/>
              </a:spcAft>
              <a:buSzPts val="2100"/>
              <a:buChar char="•"/>
            </a:pPr>
            <a:r>
              <a:rPr lang="en-US" sz="2100"/>
              <a:t>The overall AR of the original system is </a:t>
            </a:r>
            <a:r>
              <a:rPr lang="en-US" sz="2100">
                <a:highlight>
                  <a:srgbClr val="FFFFFF"/>
                </a:highlight>
              </a:rPr>
              <a:t>0.9743684111749712, and the AR of our </a:t>
            </a:r>
            <a:r>
              <a:rPr lang="en-US" sz="2100">
                <a:highlight>
                  <a:srgbClr val="FFFFFF"/>
                </a:highlight>
              </a:rPr>
              <a:t>applied</a:t>
            </a:r>
            <a:r>
              <a:rPr lang="en-US" sz="2100">
                <a:highlight>
                  <a:srgbClr val="FFFFFF"/>
                </a:highlight>
              </a:rPr>
              <a:t> ARIMA+LSTM model system is 0.8167980743507152, which shows aftering modeling, the AR is lower, and that shows the systemic risk have decreased, which is our desired for modeling.</a:t>
            </a:r>
            <a:endParaRPr sz="2100">
              <a:highlight>
                <a:srgbClr val="FFFFFF"/>
              </a:highlight>
            </a:endParaRPr>
          </a:p>
        </p:txBody>
      </p:sp>
      <p:sp>
        <p:nvSpPr>
          <p:cNvPr id="527" name="Google Shape;527;g2a76e504a22_0_63"/>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2a8092ebe27_2_1"/>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Team</a:t>
            </a:r>
            <a:endParaRPr/>
          </a:p>
        </p:txBody>
      </p:sp>
      <p:sp>
        <p:nvSpPr>
          <p:cNvPr id="534" name="Google Shape;534;g2a8092ebe27_2_1"/>
          <p:cNvSpPr txBox="1"/>
          <p:nvPr>
            <p:ph idx="1" type="body"/>
          </p:nvPr>
        </p:nvSpPr>
        <p:spPr>
          <a:xfrm>
            <a:off x="422226" y="1452286"/>
            <a:ext cx="9510300" cy="45315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Jijun Chi：ARIMA+LSTM </a:t>
            </a:r>
            <a:r>
              <a:rPr lang="en-US"/>
              <a:t>theoretical</a:t>
            </a:r>
            <a:r>
              <a:rPr lang="en-US"/>
              <a:t> modeling, coding, training and evaluation, Align covariance matrix with the trading system.</a:t>
            </a:r>
            <a:endParaRPr/>
          </a:p>
          <a:p>
            <a:pPr indent="0" lvl="0" marL="0" rtl="0" algn="l">
              <a:spcBef>
                <a:spcPts val="1800"/>
              </a:spcBef>
              <a:spcAft>
                <a:spcPts val="0"/>
              </a:spcAft>
              <a:buNone/>
            </a:pPr>
            <a:r>
              <a:rPr lang="en-US"/>
              <a:t>Yingying Liu: Analyse the research paper, construct and run </a:t>
            </a:r>
            <a:r>
              <a:rPr lang="en-US"/>
              <a:t>ARIMA+LSTM </a:t>
            </a:r>
            <a:r>
              <a:rPr lang="en-US"/>
              <a:t>models to check the correctness. Compose PowerPoint and set the schedule for all the process.</a:t>
            </a:r>
            <a:endParaRPr/>
          </a:p>
          <a:p>
            <a:pPr indent="0" lvl="0" marL="0" rtl="0" algn="l">
              <a:spcBef>
                <a:spcPts val="1800"/>
              </a:spcBef>
              <a:spcAft>
                <a:spcPts val="0"/>
              </a:spcAft>
              <a:buNone/>
            </a:pPr>
            <a:r>
              <a:rPr lang="en-US"/>
              <a:t>Yuchen Zhang: Perform the original system to run normally. After the ARIMA+LSTM model is completed, adjust the input and debug to fit the model into the modified system. Compare and analyze AR and strategy between the original system and the system which the model is applied.</a:t>
            </a:r>
            <a:endParaRPr/>
          </a:p>
          <a:p>
            <a:pPr indent="0" lvl="0" marL="0" rtl="0" algn="l">
              <a:spcBef>
                <a:spcPts val="1800"/>
              </a:spcBef>
              <a:spcAft>
                <a:spcPts val="0"/>
              </a:spcAft>
              <a:buNone/>
            </a:pPr>
            <a:r>
              <a:rPr lang="en-US"/>
              <a:t>Ke Yao: PowerPoint formation, Result analysis, </a:t>
            </a:r>
            <a:r>
              <a:rPr lang="en-US"/>
              <a:t>Comparison</a:t>
            </a:r>
            <a:r>
              <a:rPr lang="en-US"/>
              <a:t> </a:t>
            </a:r>
            <a:r>
              <a:rPr lang="en-US"/>
              <a:t>between</a:t>
            </a:r>
            <a:r>
              <a:rPr lang="en-US"/>
              <a:t> Original system and current system with ARIMA+LSTM, Flowchart of system mode</a:t>
            </a:r>
            <a:endParaRPr/>
          </a:p>
        </p:txBody>
      </p:sp>
      <p:sp>
        <p:nvSpPr>
          <p:cNvPr id="535" name="Google Shape;535;g2a8092ebe27_2_1"/>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2a76e504a22_0_70"/>
          <p:cNvSpPr txBox="1"/>
          <p:nvPr>
            <p:ph type="title"/>
          </p:nvPr>
        </p:nvSpPr>
        <p:spPr>
          <a:xfrm>
            <a:off x="422226" y="305135"/>
            <a:ext cx="9510300" cy="879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Reference</a:t>
            </a:r>
            <a:endParaRPr/>
          </a:p>
        </p:txBody>
      </p:sp>
      <p:sp>
        <p:nvSpPr>
          <p:cNvPr id="542" name="Google Shape;542;g2a76e504a22_0_70"/>
          <p:cNvSpPr txBox="1"/>
          <p:nvPr>
            <p:ph idx="1" type="body"/>
          </p:nvPr>
        </p:nvSpPr>
        <p:spPr>
          <a:xfrm>
            <a:off x="422226" y="1452286"/>
            <a:ext cx="9510300" cy="45315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a:t>[1]	Hyeong Kyu Choi, “Stock Price Correlation Coefficient Prediction with ARIMA-LSTM Hybrid Model,”arXiv:1808.01560 [cs.CE] </a:t>
            </a:r>
            <a:r>
              <a:rPr lang="en-US" u="sng">
                <a:solidFill>
                  <a:schemeClr val="hlink"/>
                </a:solidFill>
                <a:hlinkClick r:id="rId3"/>
              </a:rPr>
              <a:t>https://doi.org/10.48550/arXiv.1808.01560</a:t>
            </a:r>
            <a:r>
              <a:rPr lang="en-US"/>
              <a:t> </a:t>
            </a:r>
            <a:endParaRPr/>
          </a:p>
          <a:p>
            <a:pPr indent="0" lvl="0" marL="0" rtl="0" algn="l">
              <a:spcBef>
                <a:spcPts val="1800"/>
              </a:spcBef>
              <a:spcAft>
                <a:spcPts val="0"/>
              </a:spcAft>
              <a:buNone/>
            </a:pPr>
            <a:r>
              <a:rPr lang="en-US"/>
              <a:t>[2] Kritzman, Mark and Li, Yuanzhen and Page, Sebastien and Rigobon, Roberto, Principal Components as a Measure of Systemic Risk (March 31, 2010). Available at SSRN: https://ssrn.com/abstract=1582687 or </a:t>
            </a:r>
            <a:r>
              <a:rPr lang="en-US" u="sng">
                <a:solidFill>
                  <a:schemeClr val="hlink"/>
                </a:solidFill>
                <a:hlinkClick r:id="rId4"/>
              </a:rPr>
              <a:t>http://dx.doi.org/10.2139/ssrn.1582687</a:t>
            </a:r>
            <a:r>
              <a:rPr lang="en-US"/>
              <a:t> </a:t>
            </a:r>
            <a:endParaRPr/>
          </a:p>
          <a:p>
            <a:pPr indent="0" lvl="0" marL="0" rtl="0" algn="l">
              <a:spcBef>
                <a:spcPts val="1800"/>
              </a:spcBef>
              <a:spcAft>
                <a:spcPts val="0"/>
              </a:spcAft>
              <a:buNone/>
            </a:pPr>
            <a:r>
              <a:t/>
            </a:r>
            <a:endParaRPr/>
          </a:p>
        </p:txBody>
      </p:sp>
      <p:sp>
        <p:nvSpPr>
          <p:cNvPr id="543" name="Google Shape;543;g2a76e504a22_0_70"/>
          <p:cNvSpPr txBox="1"/>
          <p:nvPr>
            <p:ph idx="12" type="sldNum"/>
          </p:nvPr>
        </p:nvSpPr>
        <p:spPr>
          <a:xfrm>
            <a:off x="11560627" y="6319026"/>
            <a:ext cx="437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ofT PPT Template 2021">
  <a:themeElements>
    <a:clrScheme name="Boundless2015">
      <a:dk1>
        <a:srgbClr val="000000"/>
      </a:dk1>
      <a:lt1>
        <a:srgbClr val="FFFFFF"/>
      </a:lt1>
      <a:dk2>
        <a:srgbClr val="002A5C"/>
      </a:dk2>
      <a:lt2>
        <a:srgbClr val="E7E6E6"/>
      </a:lt2>
      <a:accent1>
        <a:srgbClr val="008BA9"/>
      </a:accent1>
      <a:accent2>
        <a:srgbClr val="A5A5A5"/>
      </a:accent2>
      <a:accent3>
        <a:srgbClr val="7BA4D9"/>
      </a:accent3>
      <a:accent4>
        <a:srgbClr val="DAE5CD"/>
      </a:accent4>
      <a:accent5>
        <a:srgbClr val="FFE498"/>
      </a:accent5>
      <a:accent6>
        <a:srgbClr val="2AA6C8"/>
      </a:accent6>
      <a:hlink>
        <a:srgbClr val="008BA9"/>
      </a:hlink>
      <a:folHlink>
        <a:srgbClr val="7BA4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2015-10-03T01:05:36Z</dcterms:created>
  <dc:creator>Dave Krawczyk</dc:creator>
</cp:coreProperties>
</file>